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8" r:id="rId3"/>
    <p:sldId id="297" r:id="rId4"/>
    <p:sldId id="308" r:id="rId5"/>
    <p:sldId id="309" r:id="rId6"/>
    <p:sldId id="313" r:id="rId7"/>
    <p:sldId id="310" r:id="rId8"/>
    <p:sldId id="314" r:id="rId9"/>
    <p:sldId id="311" r:id="rId10"/>
    <p:sldId id="300" r:id="rId11"/>
    <p:sldId id="301" r:id="rId12"/>
    <p:sldId id="302" r:id="rId13"/>
    <p:sldId id="316" r:id="rId14"/>
    <p:sldId id="315" r:id="rId15"/>
    <p:sldId id="303" r:id="rId16"/>
    <p:sldId id="304" r:id="rId17"/>
    <p:sldId id="305" r:id="rId18"/>
    <p:sldId id="317" r:id="rId19"/>
    <p:sldId id="318" r:id="rId20"/>
    <p:sldId id="319" r:id="rId21"/>
    <p:sldId id="321" r:id="rId22"/>
    <p:sldId id="322" r:id="rId23"/>
    <p:sldId id="320" r:id="rId24"/>
    <p:sldId id="307" r:id="rId25"/>
    <p:sldId id="323" r:id="rId26"/>
    <p:sldId id="324" r:id="rId27"/>
    <p:sldId id="325" r:id="rId28"/>
    <p:sldId id="326" r:id="rId29"/>
    <p:sldId id="294" r:id="rId30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583"/>
    <a:srgbClr val="329FD7"/>
    <a:srgbClr val="32A1D9"/>
    <a:srgbClr val="736D71"/>
    <a:srgbClr val="B3A197"/>
    <a:srgbClr val="01A6BC"/>
    <a:srgbClr val="CBCBCB"/>
    <a:srgbClr val="BABABA"/>
    <a:srgbClr val="E8E4D9"/>
    <a:srgbClr val="7CBA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205" autoAdjust="0"/>
    <p:restoredTop sz="93132" autoAdjust="0"/>
  </p:normalViewPr>
  <p:slideViewPr>
    <p:cSldViewPr>
      <p:cViewPr varScale="1">
        <p:scale>
          <a:sx n="149" d="100"/>
          <a:sy n="149" d="100"/>
        </p:scale>
        <p:origin x="126" y="168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9688C6-5A19-4B42-9575-D847E9CBE7C7}" type="datetimeFigureOut">
              <a:rPr lang="ko-KR" altLang="en-US" smtClean="0"/>
              <a:t>2022-03-04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13348B-4077-49D5-AE8F-7F5DE348FBB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5995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3348B-4077-49D5-AE8F-7F5DE348FBB1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6644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685800" y="1504950"/>
            <a:ext cx="7772400" cy="594066"/>
          </a:xfrm>
        </p:spPr>
        <p:txBody>
          <a:bodyPr/>
          <a:lstStyle>
            <a:lvl1pPr>
              <a:defRPr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altLang="ko-KR" dirty="0"/>
              <a:t>THIS IS TITLE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1447800" y="2242202"/>
            <a:ext cx="6400800" cy="381000"/>
          </a:xfrm>
        </p:spPr>
        <p:txBody>
          <a:bodyPr>
            <a:normAutofit/>
          </a:bodyPr>
          <a:lstStyle>
            <a:lvl1pPr marL="0" indent="0" algn="ctr">
              <a:buNone/>
              <a:defRPr sz="1800" i="0" baseline="0">
                <a:ln>
                  <a:solidFill>
                    <a:schemeClr val="tx1">
                      <a:lumMod val="50000"/>
                      <a:lumOff val="50000"/>
                      <a:alpha val="1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/>
              <a:t>Overview of the presentation / presenter name</a:t>
            </a:r>
            <a:endParaRPr lang="ko-KR" altLang="en-US" dirty="0"/>
          </a:p>
        </p:txBody>
      </p:sp>
      <p:pic>
        <p:nvPicPr>
          <p:cNvPr id="9" name="Picture 2" descr="H:\project lab\7. logo BSC Lab\logo pnu\pnulogo-fix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3812" y="133350"/>
            <a:ext cx="1286735" cy="388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바닥글 개체 틀 4"/>
          <p:cNvSpPr txBox="1">
            <a:spLocks/>
          </p:cNvSpPr>
          <p:nvPr userDrawn="1"/>
        </p:nvSpPr>
        <p:spPr>
          <a:xfrm>
            <a:off x="3737148" y="4857750"/>
            <a:ext cx="1669704" cy="188119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100" i="1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i="0" dirty="0">
                <a:latin typeface="Calibri Light" panose="020F0302020204030204" pitchFamily="34" charset="0"/>
                <a:cs typeface="Calibri Light" panose="020F0302020204030204" pitchFamily="34" charset="0"/>
              </a:rPr>
              <a:t>http://baelab.pusan.ac.kr</a:t>
            </a:r>
            <a:endParaRPr lang="ko-KR" altLang="en-US" i="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5082535"/>
            <a:ext cx="9144000" cy="6096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158288"/>
            <a:ext cx="900797" cy="3380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457200" y="438150"/>
            <a:ext cx="8229600" cy="324036"/>
          </a:xfrm>
        </p:spPr>
        <p:txBody>
          <a:bodyPr>
            <a:noAutofit/>
          </a:bodyPr>
          <a:lstStyle>
            <a:lvl1pPr algn="l">
              <a:defRPr sz="28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altLang="ko-KR" dirty="0"/>
              <a:t>Put Your Title Here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57200" y="895350"/>
            <a:ext cx="8229600" cy="3699273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1pPr>
            <a:lvl2pPr>
              <a:defRPr sz="14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5pPr>
          </a:lstStyle>
          <a:p>
            <a:pPr lvl="0"/>
            <a:r>
              <a:rPr lang="en-US" altLang="ko-KR" dirty="0"/>
              <a:t>This is Content</a:t>
            </a:r>
            <a:endParaRPr lang="ko-KR" altLang="en-US" dirty="0"/>
          </a:p>
          <a:p>
            <a:pPr lvl="1"/>
            <a:r>
              <a:rPr lang="en-US" altLang="ko-KR" dirty="0" err="1"/>
              <a:t>Subcontent</a:t>
            </a:r>
            <a:r>
              <a:rPr lang="en-US" altLang="ko-KR" dirty="0"/>
              <a:t> 1</a:t>
            </a:r>
            <a:endParaRPr lang="ko-KR" altLang="en-US" dirty="0"/>
          </a:p>
          <a:p>
            <a:pPr lvl="2"/>
            <a:r>
              <a:rPr lang="en-US" altLang="ko-KR" dirty="0" err="1"/>
              <a:t>Subcontent</a:t>
            </a:r>
            <a:r>
              <a:rPr lang="en-US" altLang="ko-KR" dirty="0"/>
              <a:t> 2</a:t>
            </a:r>
            <a:endParaRPr lang="ko-KR" altLang="en-US" dirty="0"/>
          </a:p>
          <a:p>
            <a:pPr lvl="3"/>
            <a:r>
              <a:rPr lang="en-US" altLang="ko-KR" dirty="0" err="1"/>
              <a:t>Subcontent</a:t>
            </a:r>
            <a:r>
              <a:rPr lang="en-US" altLang="ko-KR" dirty="0"/>
              <a:t> 3</a:t>
            </a:r>
            <a:endParaRPr lang="ko-KR" altLang="en-US" dirty="0"/>
          </a:p>
          <a:p>
            <a:pPr lvl="4"/>
            <a:r>
              <a:rPr lang="en-US" altLang="ko-KR" dirty="0" err="1"/>
              <a:t>Subcontent</a:t>
            </a:r>
            <a:r>
              <a:rPr lang="en-US" altLang="ko-KR" dirty="0"/>
              <a:t> 4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 dirty="0"/>
          </a:p>
        </p:txBody>
      </p:sp>
      <p:pic>
        <p:nvPicPr>
          <p:cNvPr id="26" name="Picture 2" descr="H:\project lab\7. logo BSC Lab\logo pnu\pnulogo-fix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129" y="4679612"/>
            <a:ext cx="1125371" cy="339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바닥글 개체 틀 4"/>
          <p:cNvSpPr txBox="1">
            <a:spLocks/>
          </p:cNvSpPr>
          <p:nvPr userDrawn="1"/>
        </p:nvSpPr>
        <p:spPr>
          <a:xfrm>
            <a:off x="3059907" y="4739035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100" i="1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50" i="0" dirty="0">
                <a:latin typeface="Cambria" panose="02040503050406030204" pitchFamily="18" charset="0"/>
              </a:rPr>
              <a:t>http://baelab.pusan.ac.kr</a:t>
            </a:r>
            <a:endParaRPr lang="ko-KR" altLang="en-US" sz="1050" i="0" dirty="0">
              <a:latin typeface="Cambria" panose="02040503050406030204" pitchFamily="18" charset="0"/>
            </a:endParaRPr>
          </a:p>
        </p:txBody>
      </p:sp>
      <p:sp>
        <p:nvSpPr>
          <p:cNvPr id="34" name="직사각형 33"/>
          <p:cNvSpPr/>
          <p:nvPr userDrawn="1"/>
        </p:nvSpPr>
        <p:spPr>
          <a:xfrm>
            <a:off x="-794" y="434082"/>
            <a:ext cx="493712" cy="339824"/>
          </a:xfrm>
          <a:prstGeom prst="rect">
            <a:avLst/>
          </a:prstGeom>
          <a:solidFill>
            <a:srgbClr val="7CBA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5" name="그림 3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50207" y="4679156"/>
            <a:ext cx="1092994" cy="321469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5082535"/>
            <a:ext cx="9144000" cy="60965"/>
          </a:xfrm>
          <a:prstGeom prst="rect">
            <a:avLst/>
          </a:prstGeom>
        </p:spPr>
      </p:pic>
      <p:cxnSp>
        <p:nvCxnSpPr>
          <p:cNvPr id="27" name="직선 연결선 26"/>
          <p:cNvCxnSpPr/>
          <p:nvPr userDrawn="1"/>
        </p:nvCxnSpPr>
        <p:spPr>
          <a:xfrm>
            <a:off x="492918" y="819150"/>
            <a:ext cx="819388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457200" y="438150"/>
            <a:ext cx="8229600" cy="324036"/>
          </a:xfrm>
        </p:spPr>
        <p:txBody>
          <a:bodyPr>
            <a:noAutofit/>
          </a:bodyPr>
          <a:lstStyle>
            <a:lvl1pPr algn="l">
              <a:defRPr sz="28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altLang="ko-KR" dirty="0"/>
              <a:t>Put Your Title Here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57200" y="895350"/>
            <a:ext cx="8229600" cy="3699273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1pPr>
            <a:lvl2pPr>
              <a:defRPr sz="14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5pPr>
          </a:lstStyle>
          <a:p>
            <a:pPr lvl="0"/>
            <a:r>
              <a:rPr lang="en-US" altLang="ko-KR" dirty="0"/>
              <a:t>This is Content</a:t>
            </a:r>
            <a:endParaRPr lang="ko-KR" altLang="en-US" dirty="0"/>
          </a:p>
          <a:p>
            <a:pPr lvl="1"/>
            <a:r>
              <a:rPr lang="en-US" altLang="ko-KR" dirty="0" err="1"/>
              <a:t>Subcontent</a:t>
            </a:r>
            <a:r>
              <a:rPr lang="en-US" altLang="ko-KR" dirty="0"/>
              <a:t> 1</a:t>
            </a:r>
            <a:endParaRPr lang="ko-KR" altLang="en-US" dirty="0"/>
          </a:p>
          <a:p>
            <a:pPr lvl="2"/>
            <a:r>
              <a:rPr lang="en-US" altLang="ko-KR" dirty="0" err="1"/>
              <a:t>Subcontent</a:t>
            </a:r>
            <a:r>
              <a:rPr lang="en-US" altLang="ko-KR" dirty="0"/>
              <a:t> 2</a:t>
            </a:r>
            <a:endParaRPr lang="ko-KR" altLang="en-US" dirty="0"/>
          </a:p>
          <a:p>
            <a:pPr lvl="3"/>
            <a:r>
              <a:rPr lang="en-US" altLang="ko-KR" dirty="0" err="1"/>
              <a:t>Subcontent</a:t>
            </a:r>
            <a:r>
              <a:rPr lang="en-US" altLang="ko-KR" dirty="0"/>
              <a:t> 3</a:t>
            </a:r>
            <a:endParaRPr lang="ko-KR" altLang="en-US" dirty="0"/>
          </a:p>
          <a:p>
            <a:pPr lvl="4"/>
            <a:r>
              <a:rPr lang="en-US" altLang="ko-KR" dirty="0" err="1"/>
              <a:t>Subcontent</a:t>
            </a:r>
            <a:r>
              <a:rPr lang="en-US" altLang="ko-KR" dirty="0"/>
              <a:t> 4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 dirty="0"/>
          </a:p>
        </p:txBody>
      </p:sp>
      <p:pic>
        <p:nvPicPr>
          <p:cNvPr id="26" name="Picture 2" descr="H:\project lab\7. logo BSC Lab\logo pnu\pnulogo-fix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129" y="4679612"/>
            <a:ext cx="1125371" cy="339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바닥글 개체 틀 4"/>
          <p:cNvSpPr txBox="1">
            <a:spLocks/>
          </p:cNvSpPr>
          <p:nvPr userDrawn="1"/>
        </p:nvSpPr>
        <p:spPr>
          <a:xfrm>
            <a:off x="3059907" y="4739035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100" i="1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50" i="0" dirty="0">
                <a:latin typeface="Cambria" panose="02040503050406030204" pitchFamily="18" charset="0"/>
              </a:rPr>
              <a:t>http://baelab.pusan.ac.kr</a:t>
            </a:r>
            <a:endParaRPr lang="ko-KR" altLang="en-US" sz="1050" i="0" dirty="0">
              <a:latin typeface="Cambria" panose="02040503050406030204" pitchFamily="18" charset="0"/>
            </a:endParaRPr>
          </a:p>
        </p:txBody>
      </p:sp>
      <p:sp>
        <p:nvSpPr>
          <p:cNvPr id="34" name="직사각형 33"/>
          <p:cNvSpPr/>
          <p:nvPr userDrawn="1"/>
        </p:nvSpPr>
        <p:spPr>
          <a:xfrm>
            <a:off x="-794" y="434082"/>
            <a:ext cx="493712" cy="339824"/>
          </a:xfrm>
          <a:prstGeom prst="rect">
            <a:avLst/>
          </a:prstGeom>
          <a:solidFill>
            <a:srgbClr val="01A6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5" name="그림 3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50207" y="4679156"/>
            <a:ext cx="1092994" cy="321469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5082535"/>
            <a:ext cx="9144000" cy="60965"/>
          </a:xfrm>
          <a:prstGeom prst="rect">
            <a:avLst/>
          </a:prstGeom>
        </p:spPr>
      </p:pic>
      <p:cxnSp>
        <p:nvCxnSpPr>
          <p:cNvPr id="27" name="직선 연결선 26"/>
          <p:cNvCxnSpPr/>
          <p:nvPr userDrawn="1"/>
        </p:nvCxnSpPr>
        <p:spPr>
          <a:xfrm>
            <a:off x="492918" y="819150"/>
            <a:ext cx="819388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0205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457200" y="438150"/>
            <a:ext cx="8229600" cy="324036"/>
          </a:xfrm>
        </p:spPr>
        <p:txBody>
          <a:bodyPr>
            <a:noAutofit/>
          </a:bodyPr>
          <a:lstStyle>
            <a:lvl1pPr algn="l">
              <a:defRPr sz="28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altLang="ko-KR" dirty="0"/>
              <a:t>Put Your Title Here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57200" y="895350"/>
            <a:ext cx="8229600" cy="3699273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1pPr>
            <a:lvl2pPr>
              <a:defRPr sz="14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5pPr>
          </a:lstStyle>
          <a:p>
            <a:pPr lvl="0"/>
            <a:r>
              <a:rPr lang="en-US" altLang="ko-KR" dirty="0"/>
              <a:t>This is Content</a:t>
            </a:r>
            <a:endParaRPr lang="ko-KR" altLang="en-US" dirty="0"/>
          </a:p>
          <a:p>
            <a:pPr lvl="1"/>
            <a:r>
              <a:rPr lang="en-US" altLang="ko-KR" dirty="0" err="1"/>
              <a:t>Subcontent</a:t>
            </a:r>
            <a:r>
              <a:rPr lang="en-US" altLang="ko-KR" dirty="0"/>
              <a:t> 1</a:t>
            </a:r>
            <a:endParaRPr lang="ko-KR" altLang="en-US" dirty="0"/>
          </a:p>
          <a:p>
            <a:pPr lvl="2"/>
            <a:r>
              <a:rPr lang="en-US" altLang="ko-KR" dirty="0" err="1"/>
              <a:t>Subcontent</a:t>
            </a:r>
            <a:r>
              <a:rPr lang="en-US" altLang="ko-KR" dirty="0"/>
              <a:t> 2</a:t>
            </a:r>
            <a:endParaRPr lang="ko-KR" altLang="en-US" dirty="0"/>
          </a:p>
          <a:p>
            <a:pPr lvl="3"/>
            <a:r>
              <a:rPr lang="en-US" altLang="ko-KR" dirty="0" err="1"/>
              <a:t>Subcontent</a:t>
            </a:r>
            <a:r>
              <a:rPr lang="en-US" altLang="ko-KR" dirty="0"/>
              <a:t> 3</a:t>
            </a:r>
            <a:endParaRPr lang="ko-KR" altLang="en-US" dirty="0"/>
          </a:p>
          <a:p>
            <a:pPr lvl="4"/>
            <a:r>
              <a:rPr lang="en-US" altLang="ko-KR" dirty="0" err="1"/>
              <a:t>Subcontent</a:t>
            </a:r>
            <a:r>
              <a:rPr lang="en-US" altLang="ko-KR" dirty="0"/>
              <a:t> 4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 dirty="0"/>
          </a:p>
        </p:txBody>
      </p:sp>
      <p:pic>
        <p:nvPicPr>
          <p:cNvPr id="26" name="Picture 2" descr="H:\project lab\7. logo BSC Lab\logo pnu\pnulogo-fix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129" y="4679612"/>
            <a:ext cx="1125371" cy="339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바닥글 개체 틀 4"/>
          <p:cNvSpPr txBox="1">
            <a:spLocks/>
          </p:cNvSpPr>
          <p:nvPr userDrawn="1"/>
        </p:nvSpPr>
        <p:spPr>
          <a:xfrm>
            <a:off x="3059907" y="4739035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100" i="1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50" i="0" dirty="0">
                <a:latin typeface="Cambria" panose="02040503050406030204" pitchFamily="18" charset="0"/>
              </a:rPr>
              <a:t>http://baelab.pusan.ac.kr</a:t>
            </a:r>
            <a:endParaRPr lang="ko-KR" altLang="en-US" sz="1050" i="0" dirty="0">
              <a:latin typeface="Cambria" panose="02040503050406030204" pitchFamily="18" charset="0"/>
            </a:endParaRPr>
          </a:p>
        </p:txBody>
      </p:sp>
      <p:sp>
        <p:nvSpPr>
          <p:cNvPr id="34" name="직사각형 33"/>
          <p:cNvSpPr/>
          <p:nvPr userDrawn="1"/>
        </p:nvSpPr>
        <p:spPr>
          <a:xfrm>
            <a:off x="-794" y="434082"/>
            <a:ext cx="493712" cy="339824"/>
          </a:xfrm>
          <a:prstGeom prst="rect">
            <a:avLst/>
          </a:prstGeom>
          <a:solidFill>
            <a:srgbClr val="0065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5" name="그림 3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50207" y="4679156"/>
            <a:ext cx="1092994" cy="321469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5082535"/>
            <a:ext cx="9144000" cy="60965"/>
          </a:xfrm>
          <a:prstGeom prst="rect">
            <a:avLst/>
          </a:prstGeom>
        </p:spPr>
      </p:pic>
      <p:cxnSp>
        <p:nvCxnSpPr>
          <p:cNvPr id="28" name="직선 연결선 27"/>
          <p:cNvCxnSpPr/>
          <p:nvPr userDrawn="1"/>
        </p:nvCxnSpPr>
        <p:spPr>
          <a:xfrm>
            <a:off x="492918" y="819150"/>
            <a:ext cx="819388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577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457200" y="438150"/>
            <a:ext cx="8229600" cy="324036"/>
          </a:xfrm>
        </p:spPr>
        <p:txBody>
          <a:bodyPr>
            <a:noAutofit/>
          </a:bodyPr>
          <a:lstStyle>
            <a:lvl1pPr algn="l">
              <a:defRPr sz="28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altLang="ko-KR" dirty="0"/>
              <a:t>Put Your Title Here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57200" y="895350"/>
            <a:ext cx="8229600" cy="3699273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1pPr>
            <a:lvl2pPr>
              <a:defRPr sz="14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5pPr>
          </a:lstStyle>
          <a:p>
            <a:pPr lvl="0"/>
            <a:r>
              <a:rPr lang="en-US" altLang="ko-KR" dirty="0"/>
              <a:t>This is Content</a:t>
            </a:r>
            <a:endParaRPr lang="ko-KR" altLang="en-US" dirty="0"/>
          </a:p>
          <a:p>
            <a:pPr lvl="1"/>
            <a:r>
              <a:rPr lang="en-US" altLang="ko-KR" dirty="0" err="1"/>
              <a:t>Subcontent</a:t>
            </a:r>
            <a:r>
              <a:rPr lang="en-US" altLang="ko-KR" dirty="0"/>
              <a:t> 1</a:t>
            </a:r>
            <a:endParaRPr lang="ko-KR" altLang="en-US" dirty="0"/>
          </a:p>
          <a:p>
            <a:pPr lvl="2"/>
            <a:r>
              <a:rPr lang="en-US" altLang="ko-KR" dirty="0" err="1"/>
              <a:t>Subcontent</a:t>
            </a:r>
            <a:r>
              <a:rPr lang="en-US" altLang="ko-KR" dirty="0"/>
              <a:t> 2</a:t>
            </a:r>
            <a:endParaRPr lang="ko-KR" altLang="en-US" dirty="0"/>
          </a:p>
          <a:p>
            <a:pPr lvl="3"/>
            <a:r>
              <a:rPr lang="en-US" altLang="ko-KR" dirty="0" err="1"/>
              <a:t>Subcontent</a:t>
            </a:r>
            <a:r>
              <a:rPr lang="en-US" altLang="ko-KR" dirty="0"/>
              <a:t> 3</a:t>
            </a:r>
            <a:endParaRPr lang="ko-KR" altLang="en-US" dirty="0"/>
          </a:p>
          <a:p>
            <a:pPr lvl="4"/>
            <a:r>
              <a:rPr lang="en-US" altLang="ko-KR" dirty="0" err="1"/>
              <a:t>Subcontent</a:t>
            </a:r>
            <a:r>
              <a:rPr lang="en-US" altLang="ko-KR" dirty="0"/>
              <a:t> 4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 dirty="0"/>
          </a:p>
        </p:txBody>
      </p:sp>
      <p:pic>
        <p:nvPicPr>
          <p:cNvPr id="26" name="Picture 2" descr="H:\project lab\7. logo BSC Lab\logo pnu\pnulogo-fix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129" y="4679612"/>
            <a:ext cx="1125371" cy="339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바닥글 개체 틀 4"/>
          <p:cNvSpPr txBox="1">
            <a:spLocks/>
          </p:cNvSpPr>
          <p:nvPr userDrawn="1"/>
        </p:nvSpPr>
        <p:spPr>
          <a:xfrm>
            <a:off x="3059907" y="4739035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100" i="1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50" i="0" dirty="0">
                <a:latin typeface="Cambria" panose="02040503050406030204" pitchFamily="18" charset="0"/>
              </a:rPr>
              <a:t>http://baelab.pusan.ac.kr</a:t>
            </a:r>
            <a:endParaRPr lang="ko-KR" altLang="en-US" sz="1050" i="0" dirty="0">
              <a:latin typeface="Cambria" panose="02040503050406030204" pitchFamily="18" charset="0"/>
            </a:endParaRPr>
          </a:p>
        </p:txBody>
      </p:sp>
      <p:sp>
        <p:nvSpPr>
          <p:cNvPr id="34" name="직사각형 33"/>
          <p:cNvSpPr/>
          <p:nvPr userDrawn="1"/>
        </p:nvSpPr>
        <p:spPr>
          <a:xfrm>
            <a:off x="-794" y="434082"/>
            <a:ext cx="493712" cy="339824"/>
          </a:xfrm>
          <a:prstGeom prst="rect">
            <a:avLst/>
          </a:prstGeom>
          <a:solidFill>
            <a:srgbClr val="E8E4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5" name="그림 3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50207" y="4679156"/>
            <a:ext cx="1092994" cy="321469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5082535"/>
            <a:ext cx="9144000" cy="60965"/>
          </a:xfrm>
          <a:prstGeom prst="rect">
            <a:avLst/>
          </a:prstGeom>
        </p:spPr>
      </p:pic>
      <p:cxnSp>
        <p:nvCxnSpPr>
          <p:cNvPr id="28" name="직선 연결선 27"/>
          <p:cNvCxnSpPr/>
          <p:nvPr userDrawn="1"/>
        </p:nvCxnSpPr>
        <p:spPr>
          <a:xfrm>
            <a:off x="492918" y="819150"/>
            <a:ext cx="819388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6845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457200" y="438150"/>
            <a:ext cx="8229600" cy="324036"/>
          </a:xfrm>
        </p:spPr>
        <p:txBody>
          <a:bodyPr>
            <a:noAutofit/>
          </a:bodyPr>
          <a:lstStyle>
            <a:lvl1pPr algn="l">
              <a:defRPr sz="28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altLang="ko-KR" dirty="0"/>
              <a:t>Put Your Title Here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57200" y="895350"/>
            <a:ext cx="8229600" cy="3699273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1pPr>
            <a:lvl2pPr>
              <a:defRPr sz="14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defRPr>
            </a:lvl5pPr>
          </a:lstStyle>
          <a:p>
            <a:pPr lvl="0"/>
            <a:r>
              <a:rPr lang="en-US" altLang="ko-KR" dirty="0"/>
              <a:t>This is Content</a:t>
            </a:r>
            <a:endParaRPr lang="ko-KR" altLang="en-US" dirty="0"/>
          </a:p>
          <a:p>
            <a:pPr lvl="1"/>
            <a:r>
              <a:rPr lang="en-US" altLang="ko-KR" dirty="0" err="1"/>
              <a:t>Subcontent</a:t>
            </a:r>
            <a:r>
              <a:rPr lang="en-US" altLang="ko-KR" dirty="0"/>
              <a:t> 1</a:t>
            </a:r>
            <a:endParaRPr lang="ko-KR" altLang="en-US" dirty="0"/>
          </a:p>
          <a:p>
            <a:pPr lvl="2"/>
            <a:r>
              <a:rPr lang="en-US" altLang="ko-KR" dirty="0" err="1"/>
              <a:t>Subcontent</a:t>
            </a:r>
            <a:r>
              <a:rPr lang="en-US" altLang="ko-KR" dirty="0"/>
              <a:t> 2</a:t>
            </a:r>
            <a:endParaRPr lang="ko-KR" altLang="en-US" dirty="0"/>
          </a:p>
          <a:p>
            <a:pPr lvl="3"/>
            <a:r>
              <a:rPr lang="en-US" altLang="ko-KR" dirty="0" err="1"/>
              <a:t>Subcontent</a:t>
            </a:r>
            <a:r>
              <a:rPr lang="en-US" altLang="ko-KR" dirty="0"/>
              <a:t> 3</a:t>
            </a:r>
            <a:endParaRPr lang="ko-KR" altLang="en-US" dirty="0"/>
          </a:p>
          <a:p>
            <a:pPr lvl="4"/>
            <a:r>
              <a:rPr lang="en-US" altLang="ko-KR" dirty="0" err="1"/>
              <a:t>Subcontent</a:t>
            </a:r>
            <a:r>
              <a:rPr lang="en-US" altLang="ko-KR" dirty="0"/>
              <a:t> 4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 dirty="0"/>
          </a:p>
        </p:txBody>
      </p:sp>
      <p:pic>
        <p:nvPicPr>
          <p:cNvPr id="26" name="Picture 2" descr="H:\project lab\7. logo BSC Lab\logo pnu\pnulogo-fix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129" y="4679612"/>
            <a:ext cx="1125371" cy="339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바닥글 개체 틀 4"/>
          <p:cNvSpPr txBox="1">
            <a:spLocks/>
          </p:cNvSpPr>
          <p:nvPr userDrawn="1"/>
        </p:nvSpPr>
        <p:spPr>
          <a:xfrm>
            <a:off x="3059907" y="4739035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100" i="1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50" i="0" dirty="0">
                <a:latin typeface="Cambria" panose="02040503050406030204" pitchFamily="18" charset="0"/>
              </a:rPr>
              <a:t>http://baelab.pusan.ac.kr</a:t>
            </a:r>
            <a:endParaRPr lang="ko-KR" altLang="en-US" sz="1050" i="0" dirty="0">
              <a:latin typeface="Cambria" panose="02040503050406030204" pitchFamily="18" charset="0"/>
            </a:endParaRPr>
          </a:p>
        </p:txBody>
      </p:sp>
      <p:sp>
        <p:nvSpPr>
          <p:cNvPr id="34" name="직사각형 33"/>
          <p:cNvSpPr/>
          <p:nvPr userDrawn="1"/>
        </p:nvSpPr>
        <p:spPr>
          <a:xfrm>
            <a:off x="-794" y="434082"/>
            <a:ext cx="493712" cy="339824"/>
          </a:xfrm>
          <a:prstGeom prst="rect">
            <a:avLst/>
          </a:prstGeom>
          <a:solidFill>
            <a:srgbClr val="B3A1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5" name="그림 3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50207" y="4679156"/>
            <a:ext cx="1092994" cy="321469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5082535"/>
            <a:ext cx="9144000" cy="60965"/>
          </a:xfrm>
          <a:prstGeom prst="rect">
            <a:avLst/>
          </a:prstGeom>
        </p:spPr>
      </p:pic>
      <p:cxnSp>
        <p:nvCxnSpPr>
          <p:cNvPr id="28" name="직선 연결선 27"/>
          <p:cNvCxnSpPr/>
          <p:nvPr userDrawn="1"/>
        </p:nvCxnSpPr>
        <p:spPr>
          <a:xfrm>
            <a:off x="492918" y="819150"/>
            <a:ext cx="819388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025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 userDrawn="1"/>
        </p:nvGrpSpPr>
        <p:grpSpPr>
          <a:xfrm>
            <a:off x="2905619" y="5086350"/>
            <a:ext cx="3238872" cy="57150"/>
            <a:chOff x="3276600" y="2114550"/>
            <a:chExt cx="3238872" cy="144016"/>
          </a:xfrm>
        </p:grpSpPr>
        <p:grpSp>
          <p:nvGrpSpPr>
            <p:cNvPr id="5" name="그룹 4"/>
            <p:cNvGrpSpPr/>
            <p:nvPr userDrawn="1"/>
          </p:nvGrpSpPr>
          <p:grpSpPr>
            <a:xfrm>
              <a:off x="3276600" y="2114550"/>
              <a:ext cx="2592288" cy="144016"/>
              <a:chOff x="3275856" y="2767383"/>
              <a:chExt cx="2592288" cy="144016"/>
            </a:xfrm>
          </p:grpSpPr>
          <p:sp>
            <p:nvSpPr>
              <p:cNvPr id="7" name="직사각형 6"/>
              <p:cNvSpPr/>
              <p:nvPr userDrawn="1"/>
            </p:nvSpPr>
            <p:spPr>
              <a:xfrm>
                <a:off x="3275856" y="2767383"/>
                <a:ext cx="648072" cy="144016"/>
              </a:xfrm>
              <a:prstGeom prst="rect">
                <a:avLst/>
              </a:prstGeom>
              <a:solidFill>
                <a:srgbClr val="7CBA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8" name="직사각형 7"/>
              <p:cNvSpPr/>
              <p:nvPr userDrawn="1"/>
            </p:nvSpPr>
            <p:spPr>
              <a:xfrm>
                <a:off x="3923928" y="2767383"/>
                <a:ext cx="648072" cy="144016"/>
              </a:xfrm>
              <a:prstGeom prst="rect">
                <a:avLst/>
              </a:prstGeom>
              <a:solidFill>
                <a:srgbClr val="01A6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" name="직사각형 8"/>
              <p:cNvSpPr/>
              <p:nvPr userDrawn="1"/>
            </p:nvSpPr>
            <p:spPr>
              <a:xfrm>
                <a:off x="4572000" y="2767383"/>
                <a:ext cx="648072" cy="144016"/>
              </a:xfrm>
              <a:prstGeom prst="rect">
                <a:avLst/>
              </a:prstGeom>
              <a:solidFill>
                <a:srgbClr val="00658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" name="직사각형 9"/>
              <p:cNvSpPr/>
              <p:nvPr userDrawn="1"/>
            </p:nvSpPr>
            <p:spPr>
              <a:xfrm>
                <a:off x="5220072" y="2767383"/>
                <a:ext cx="648072" cy="144016"/>
              </a:xfrm>
              <a:prstGeom prst="rect">
                <a:avLst/>
              </a:prstGeom>
              <a:solidFill>
                <a:srgbClr val="E8E4D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6" name="직사각형 5"/>
            <p:cNvSpPr/>
            <p:nvPr userDrawn="1"/>
          </p:nvSpPr>
          <p:spPr>
            <a:xfrm>
              <a:off x="5867400" y="2114550"/>
              <a:ext cx="648072" cy="144016"/>
            </a:xfrm>
            <a:prstGeom prst="rect">
              <a:avLst/>
            </a:prstGeom>
            <a:solidFill>
              <a:srgbClr val="B3A1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26239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2" r:id="rId3"/>
    <p:sldLayoutId id="2147483673" r:id="rId4"/>
    <p:sldLayoutId id="2147483674" r:id="rId5"/>
    <p:sldLayoutId id="2147483675" r:id="rId6"/>
    <p:sldLayoutId id="2147483676" r:id="rId7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4038600" y="2441054"/>
            <a:ext cx="1066800" cy="381000"/>
          </a:xfrm>
        </p:spPr>
        <p:txBody>
          <a:bodyPr>
            <a:normAutofit/>
          </a:bodyPr>
          <a:lstStyle/>
          <a:p>
            <a:r>
              <a:rPr lang="ko-KR" altLang="en-US" sz="1800" i="0" dirty="0" err="1" smtClean="0">
                <a:ln>
                  <a:solidFill>
                    <a:schemeClr val="bg1">
                      <a:lumMod val="65000"/>
                      <a:alpha val="15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</a:rPr>
              <a:t>김민섭</a:t>
            </a:r>
            <a:endParaRPr lang="ko-KR" altLang="en-US" sz="1050" i="0" dirty="0">
              <a:ln>
                <a:solidFill>
                  <a:schemeClr val="bg1">
                    <a:lumMod val="65000"/>
                    <a:alpha val="15000"/>
                  </a:schemeClr>
                </a:solidFill>
              </a:ln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415637" y="1504950"/>
            <a:ext cx="8312727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en-US" altLang="ko-KR" sz="2300" dirty="0" err="1" smtClean="0">
                <a:ln>
                  <a:solidFill>
                    <a:schemeClr val="tx1">
                      <a:lumMod val="65000"/>
                      <a:lumOff val="35000"/>
                      <a:alpha val="50000"/>
                    </a:schemeClr>
                  </a:solidFill>
                </a:ln>
              </a:rPr>
              <a:t>Artifical</a:t>
            </a:r>
            <a:r>
              <a:rPr lang="en-US" altLang="ko-KR" sz="2300" dirty="0" smtClean="0">
                <a:ln>
                  <a:solidFill>
                    <a:schemeClr val="tx1">
                      <a:lumMod val="65000"/>
                      <a:lumOff val="35000"/>
                      <a:alpha val="50000"/>
                    </a:schemeClr>
                  </a:solidFill>
                </a:ln>
              </a:rPr>
              <a:t> Neural Network</a:t>
            </a:r>
          </a:p>
          <a:p>
            <a:r>
              <a:rPr lang="ko-KR" altLang="en-US" sz="1800" dirty="0" err="1" smtClean="0">
                <a:ln>
                  <a:solidFill>
                    <a:schemeClr val="tx1">
                      <a:lumMod val="65000"/>
                      <a:lumOff val="35000"/>
                      <a:alpha val="50000"/>
                    </a:schemeClr>
                  </a:solidFill>
                </a:ln>
              </a:rPr>
              <a:t>인공신경망</a:t>
            </a:r>
            <a:endParaRPr lang="ko-KR" altLang="en-US" sz="2300" dirty="0">
              <a:ln>
                <a:solidFill>
                  <a:schemeClr val="tx1">
                    <a:lumMod val="65000"/>
                    <a:lumOff val="35000"/>
                    <a:alpha val="5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150915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F9EA213-2255-47E8-824F-B9B287E6E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970" y="1200150"/>
            <a:ext cx="8229600" cy="2971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 smtClean="0"/>
              <a:t>1. </a:t>
            </a:r>
            <a:r>
              <a:rPr lang="ko-KR" altLang="en-US" dirty="0" smtClean="0"/>
              <a:t>인공신경망의 개념</a:t>
            </a:r>
            <a:endParaRPr lang="en-US" altLang="ko-KR" dirty="0" smtClean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2. Activation Function</a:t>
            </a:r>
          </a:p>
          <a:p>
            <a:endParaRPr lang="en-US" altLang="ko-KR" b="1" dirty="0"/>
          </a:p>
          <a:p>
            <a:pPr marL="0" indent="0">
              <a:buNone/>
            </a:pPr>
            <a:r>
              <a:rPr lang="en-US" altLang="ko-KR" dirty="0" smtClean="0"/>
              <a:t>3. Error </a:t>
            </a:r>
            <a:r>
              <a:rPr lang="en-US" altLang="ko-KR" dirty="0"/>
              <a:t>Back </a:t>
            </a:r>
            <a:r>
              <a:rPr lang="en-US" altLang="ko-KR" dirty="0" smtClean="0"/>
              <a:t>Propagation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000" dirty="0" smtClean="0"/>
              <a:t>가중치 초기화</a:t>
            </a:r>
            <a:endParaRPr lang="en-US" altLang="ko-KR" sz="1000" dirty="0" smtClean="0"/>
          </a:p>
          <a:p>
            <a:pPr marL="800100" lvl="1" indent="-342900">
              <a:buFont typeface="+mj-lt"/>
              <a:buAutoNum type="arabicPeriod"/>
            </a:pPr>
            <a:r>
              <a:rPr lang="en-US" altLang="ko-KR" sz="1000" dirty="0" smtClean="0"/>
              <a:t>Forward Propagation(</a:t>
            </a:r>
            <a:r>
              <a:rPr lang="ko-KR" altLang="en-US" sz="1000" dirty="0" err="1" smtClean="0"/>
              <a:t>순전파</a:t>
            </a:r>
            <a:r>
              <a:rPr lang="en-US" altLang="ko-KR" sz="1000" dirty="0" smtClean="0"/>
              <a:t>)</a:t>
            </a:r>
            <a:r>
              <a:rPr lang="ko-KR" altLang="en-US" sz="1000" dirty="0" smtClean="0"/>
              <a:t>을</a:t>
            </a:r>
            <a:r>
              <a:rPr lang="en-US" altLang="ko-KR" sz="1000" dirty="0" smtClean="0"/>
              <a:t> </a:t>
            </a:r>
            <a:r>
              <a:rPr lang="ko-KR" altLang="en-US" sz="1000" dirty="0" smtClean="0"/>
              <a:t>통한 </a:t>
            </a:r>
            <a:r>
              <a:rPr lang="ko-KR" altLang="en-US" sz="1000" dirty="0" err="1" smtClean="0"/>
              <a:t>출력값</a:t>
            </a:r>
            <a:r>
              <a:rPr lang="ko-KR" altLang="en-US" sz="1000" dirty="0" smtClean="0"/>
              <a:t> 계산</a:t>
            </a:r>
            <a:endParaRPr lang="en-US" altLang="ko-KR" sz="1000" dirty="0" smtClean="0"/>
          </a:p>
          <a:p>
            <a:pPr marL="800100" lvl="1" indent="-342900">
              <a:buFont typeface="+mj-lt"/>
              <a:buAutoNum type="arabicPeriod"/>
            </a:pPr>
            <a:r>
              <a:rPr lang="en-US" altLang="ko-KR" sz="1000" dirty="0" smtClean="0"/>
              <a:t>Cost Function(</a:t>
            </a:r>
            <a:r>
              <a:rPr lang="ko-KR" altLang="en-US" sz="1000" dirty="0" smtClean="0"/>
              <a:t>비용 함수</a:t>
            </a:r>
            <a:r>
              <a:rPr lang="en-US" altLang="ko-KR" sz="1000" dirty="0" smtClean="0"/>
              <a:t>)</a:t>
            </a:r>
            <a:r>
              <a:rPr lang="ko-KR" altLang="en-US" sz="1000" dirty="0" smtClean="0"/>
              <a:t>정의 및 </a:t>
            </a:r>
            <a:r>
              <a:rPr lang="en-US" altLang="ko-KR" sz="1000" dirty="0" smtClean="0"/>
              <a:t>1</a:t>
            </a:r>
            <a:r>
              <a:rPr lang="ko-KR" altLang="en-US" sz="1000" dirty="0" smtClean="0"/>
              <a:t>차 </a:t>
            </a:r>
            <a:r>
              <a:rPr lang="ko-KR" altLang="en-US" sz="1000" dirty="0" err="1" smtClean="0"/>
              <a:t>미분식</a:t>
            </a:r>
            <a:r>
              <a:rPr lang="ko-KR" altLang="en-US" sz="1000" dirty="0" smtClean="0"/>
              <a:t> 구하기</a:t>
            </a:r>
            <a:endParaRPr lang="en-US" altLang="ko-KR" sz="1000" dirty="0" smtClean="0"/>
          </a:p>
          <a:p>
            <a:pPr marL="800100" lvl="1" indent="-342900">
              <a:buFont typeface="+mj-lt"/>
              <a:buAutoNum type="arabicPeriod"/>
            </a:pPr>
            <a:r>
              <a:rPr lang="en-US" altLang="ko-KR" sz="1000" dirty="0" smtClean="0"/>
              <a:t>Back Propagation(</a:t>
            </a:r>
            <a:r>
              <a:rPr lang="ko-KR" altLang="en-US" sz="1000" dirty="0" err="1" smtClean="0"/>
              <a:t>역전파</a:t>
            </a:r>
            <a:r>
              <a:rPr lang="en-US" altLang="ko-KR" sz="1000" dirty="0" smtClean="0"/>
              <a:t>)</a:t>
            </a:r>
            <a:r>
              <a:rPr lang="ko-KR" altLang="en-US" sz="1000" dirty="0" smtClean="0"/>
              <a:t>를 통한 </a:t>
            </a:r>
            <a:r>
              <a:rPr lang="en-US" altLang="ko-KR" sz="1000" dirty="0" smtClean="0"/>
              <a:t>1</a:t>
            </a:r>
            <a:r>
              <a:rPr lang="ko-KR" altLang="en-US" sz="1000" dirty="0" smtClean="0"/>
              <a:t>차 </a:t>
            </a:r>
            <a:r>
              <a:rPr lang="ko-KR" altLang="en-US" sz="1000" dirty="0" err="1" smtClean="0"/>
              <a:t>미분값</a:t>
            </a:r>
            <a:r>
              <a:rPr lang="ko-KR" altLang="en-US" sz="1000" dirty="0" smtClean="0"/>
              <a:t> 구하기</a:t>
            </a:r>
            <a:endParaRPr lang="en-US" altLang="ko-KR" sz="1000" dirty="0" smtClean="0"/>
          </a:p>
          <a:p>
            <a:pPr marL="800100" lvl="1" indent="-342900">
              <a:buFont typeface="+mj-lt"/>
              <a:buAutoNum type="arabicPeriod"/>
            </a:pPr>
            <a:r>
              <a:rPr lang="en-US" altLang="ko-KR" sz="1000" dirty="0" smtClean="0"/>
              <a:t>Parameter(</a:t>
            </a:r>
            <a:r>
              <a:rPr lang="ko-KR" altLang="en-US" sz="1000" dirty="0" smtClean="0"/>
              <a:t>가중치 벡터</a:t>
            </a:r>
            <a:r>
              <a:rPr lang="en-US" altLang="ko-KR" sz="1000" dirty="0" smtClean="0"/>
              <a:t>, </a:t>
            </a:r>
            <a:r>
              <a:rPr lang="ko-KR" altLang="en-US" sz="1000" dirty="0" err="1" smtClean="0"/>
              <a:t>편향벡터</a:t>
            </a:r>
            <a:r>
              <a:rPr lang="en-US" altLang="ko-KR" sz="1000" dirty="0" smtClean="0"/>
              <a:t>) </a:t>
            </a:r>
            <a:r>
              <a:rPr lang="ko-KR" altLang="en-US" sz="1000" dirty="0" smtClean="0"/>
              <a:t>업데이트</a:t>
            </a:r>
            <a:endParaRPr lang="en-US" altLang="ko-KR" sz="1000" dirty="0" smtClean="0"/>
          </a:p>
          <a:p>
            <a:pPr marL="800100" lvl="1" indent="-342900">
              <a:buFont typeface="+mj-lt"/>
              <a:buAutoNum type="arabicPeriod"/>
            </a:pPr>
            <a:endParaRPr lang="en-US" altLang="ko-KR" sz="1000" dirty="0" smtClean="0"/>
          </a:p>
          <a:p>
            <a:pPr marL="57150" indent="0">
              <a:buNone/>
            </a:pPr>
            <a:r>
              <a:rPr lang="en-US" altLang="ko-KR" dirty="0" smtClean="0"/>
              <a:t>4. </a:t>
            </a:r>
            <a:r>
              <a:rPr lang="ko-KR" altLang="en-US" dirty="0" smtClean="0"/>
              <a:t>더 읽을 거리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674747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66800" y="3714750"/>
            <a:ext cx="701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신경망이란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적응성이 있는 단순 단위</a:t>
            </a:r>
            <a:r>
              <a:rPr lang="en-US" altLang="ko-KR" sz="1200" dirty="0" smtClean="0"/>
              <a:t>(Neuron)</a:t>
            </a:r>
            <a:r>
              <a:rPr lang="ko-KR" altLang="en-US" sz="1200" dirty="0" smtClean="0"/>
              <a:t>로 구성된 광범위하고 서로 연결된 네트워크다</a:t>
            </a:r>
            <a:r>
              <a:rPr lang="en-US" altLang="ko-KR" sz="1200" dirty="0" smtClean="0"/>
              <a:t>. </a:t>
            </a:r>
          </a:p>
          <a:p>
            <a:r>
              <a:rPr lang="ko-KR" altLang="en-US" sz="1200" dirty="0" smtClean="0"/>
              <a:t>이 조직은 현실 세계 사물에 대한 생물 신경계통의 상호작용을 모방할 수 있다</a:t>
            </a:r>
            <a:r>
              <a:rPr lang="en-US" altLang="ko-KR" sz="1200" dirty="0" smtClean="0"/>
              <a:t>. </a:t>
            </a:r>
            <a:r>
              <a:rPr lang="en-US" altLang="ko-KR" sz="800" dirty="0" smtClean="0"/>
              <a:t>(</a:t>
            </a:r>
            <a:r>
              <a:rPr lang="en-US" altLang="ko-KR" sz="800" dirty="0" err="1" smtClean="0"/>
              <a:t>Kohonen</a:t>
            </a:r>
            <a:r>
              <a:rPr lang="en-US" altLang="ko-KR" sz="800" dirty="0" smtClean="0"/>
              <a:t>, 1988)</a:t>
            </a:r>
            <a:endParaRPr lang="ko-KR" altLang="en-US" sz="12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000" dirty="0" smtClean="0"/>
              <a:t>인공신경망의 개념</a:t>
            </a:r>
            <a:endParaRPr lang="ko-KR" altLang="en-US" sz="2000" dirty="0"/>
          </a:p>
        </p:txBody>
      </p:sp>
      <p:pic>
        <p:nvPicPr>
          <p:cNvPr id="1026" name="Picture 2" descr="머신 러닝/딥 러닝] 인공신경망 (Artificial Neural Network, ANN)과 역전파 알고리즘  (Backpropagation Algorithm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504950"/>
            <a:ext cx="6781800" cy="1919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7661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000" dirty="0" smtClean="0"/>
              <a:t>인공신경망의 개념</a:t>
            </a:r>
            <a:endParaRPr lang="ko-KR" altLang="en-US" sz="20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478911"/>
            <a:ext cx="3124200" cy="21185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90600" y="1047750"/>
            <a:ext cx="70104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000" dirty="0" smtClean="0"/>
              <a:t>생물 신경망에서 각 뉴런은 기타 뉴런과 서로 연결되며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만약 뉴런이 흥분을 한다면 연결된 뉴런으로 화학물질은 전송하며 뉴런 내의 전압을</a:t>
            </a:r>
            <a:r>
              <a:rPr lang="en-US" altLang="ko-KR" sz="1000" dirty="0" smtClean="0"/>
              <a:t> </a:t>
            </a:r>
            <a:r>
              <a:rPr lang="ko-KR" altLang="en-US" sz="1000" dirty="0" smtClean="0"/>
              <a:t>바꾸고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만약 어떤 뉴런의 전압이 </a:t>
            </a:r>
            <a:r>
              <a:rPr lang="en-US" altLang="ko-KR" sz="1000" dirty="0" smtClean="0"/>
              <a:t>Threshold</a:t>
            </a:r>
            <a:r>
              <a:rPr lang="ko-KR" altLang="en-US" sz="1000" dirty="0" smtClean="0"/>
              <a:t>를 넘으면 해당 뉴런을 활성화시킨다</a:t>
            </a:r>
            <a:r>
              <a:rPr lang="en-US" altLang="ko-KR" sz="1000" dirty="0" smtClean="0"/>
              <a:t>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000" dirty="0" smtClean="0"/>
              <a:t>1943</a:t>
            </a:r>
            <a:r>
              <a:rPr lang="ko-KR" altLang="en-US" sz="1000" dirty="0" smtClean="0"/>
              <a:t>년 </a:t>
            </a:r>
            <a:r>
              <a:rPr lang="ko-KR" altLang="en-US" sz="1000" dirty="0" err="1" smtClean="0"/>
              <a:t>맥컬로치와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피츠</a:t>
            </a:r>
            <a:r>
              <a:rPr lang="en-US" altLang="ko-KR" sz="700" dirty="0" smtClean="0"/>
              <a:t>(McCulloch and Pitts, 1943)</a:t>
            </a:r>
            <a:r>
              <a:rPr lang="ko-KR" altLang="en-US" sz="1000" dirty="0" smtClean="0"/>
              <a:t>는 위에서 말한 내용을 아래와 같은 간단한 모델로 구현하였으며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이것이 바로 오늘날까지 사용되고 있는 </a:t>
            </a:r>
            <a:r>
              <a:rPr lang="en-US" altLang="ko-KR" sz="1000" dirty="0" smtClean="0"/>
              <a:t>‘M-P </a:t>
            </a:r>
            <a:r>
              <a:rPr lang="ko-KR" altLang="en-US" sz="1000" dirty="0" smtClean="0"/>
              <a:t>뉴런 모델</a:t>
            </a:r>
            <a:r>
              <a:rPr lang="en-US" altLang="ko-KR" sz="1000" dirty="0" smtClean="0"/>
              <a:t>’</a:t>
            </a:r>
            <a:r>
              <a:rPr lang="ko-KR" altLang="en-US" sz="1000" dirty="0" smtClean="0"/>
              <a:t>이다</a:t>
            </a:r>
            <a:r>
              <a:rPr lang="en-US" altLang="ko-KR" sz="1000" dirty="0" smtClean="0"/>
              <a:t>.</a:t>
            </a:r>
          </a:p>
          <a:p>
            <a:pPr marL="628650" lvl="1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900" dirty="0" smtClean="0"/>
              <a:t>M-P </a:t>
            </a:r>
            <a:r>
              <a:rPr lang="ko-KR" altLang="en-US" sz="900" dirty="0" smtClean="0"/>
              <a:t>뉴런 모델이란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다른 신경 세포에게 전기신호를 받았을 때 전기 신호가 일정 기준을 넘으면 다음 신경 세포로 신호를 전달하는 것을 수학적 모델로 고안한 것</a:t>
            </a:r>
            <a:endParaRPr lang="en-US" altLang="ko-KR" sz="900" dirty="0" smtClean="0"/>
          </a:p>
        </p:txBody>
      </p:sp>
    </p:spTree>
    <p:extLst>
      <p:ext uri="{BB962C8B-B14F-4D97-AF65-F5344CB8AC3E}">
        <p14:creationId xmlns:p14="http://schemas.microsoft.com/office/powerpoint/2010/main" val="1118679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000" dirty="0" smtClean="0"/>
              <a:t>인공신경망의 개념</a:t>
            </a:r>
            <a:endParaRPr lang="ko-KR" altLang="en-US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990600" y="1047750"/>
            <a:ext cx="701040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000" dirty="0" smtClean="0"/>
              <a:t>1957</a:t>
            </a:r>
            <a:r>
              <a:rPr lang="ko-KR" altLang="en-US" sz="1000" dirty="0" smtClean="0"/>
              <a:t>년</a:t>
            </a:r>
            <a:r>
              <a:rPr lang="en-US" altLang="ko-KR" sz="1000" dirty="0" smtClean="0"/>
              <a:t> </a:t>
            </a:r>
            <a:r>
              <a:rPr lang="ko-KR" altLang="en-US" sz="1000" dirty="0" smtClean="0"/>
              <a:t>프랑크</a:t>
            </a:r>
            <a:r>
              <a:rPr lang="en-US" altLang="ko-KR" sz="1000" dirty="0" smtClean="0"/>
              <a:t> </a:t>
            </a:r>
            <a:r>
              <a:rPr lang="ko-KR" altLang="en-US" sz="1000" dirty="0" err="1" smtClean="0"/>
              <a:t>로젠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블라트가</a:t>
            </a:r>
            <a:r>
              <a:rPr lang="ko-KR" altLang="en-US" sz="1000" dirty="0" smtClean="0"/>
              <a:t> 제안한 가장 간단한 인공 신경망 구조 중 하나</a:t>
            </a:r>
            <a:endParaRPr lang="en-US" altLang="ko-KR" sz="1000" dirty="0" smtClean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000" dirty="0" smtClean="0"/>
              <a:t>앞서 언급한 </a:t>
            </a:r>
            <a:r>
              <a:rPr lang="en-US" altLang="ko-KR" sz="1000" dirty="0" smtClean="0"/>
              <a:t>M-P </a:t>
            </a:r>
            <a:r>
              <a:rPr lang="ko-KR" altLang="en-US" sz="1000" dirty="0" smtClean="0"/>
              <a:t>모델을 기반으로 두는 </a:t>
            </a:r>
            <a:r>
              <a:rPr lang="ko-KR" altLang="en-US" sz="1000" dirty="0" err="1" smtClean="0"/>
              <a:t>학습기계</a:t>
            </a:r>
            <a:endParaRPr lang="en-US" altLang="ko-KR" sz="1000" dirty="0" smtClean="0"/>
          </a:p>
          <a:p>
            <a:pPr marL="628650" lvl="1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900" dirty="0" smtClean="0"/>
              <a:t>M-P </a:t>
            </a:r>
            <a:r>
              <a:rPr lang="ko-KR" altLang="en-US" sz="900" dirty="0" smtClean="0"/>
              <a:t>뉴런 모델의 논리 게이트를 학습 모델로 구현한 것이기 때문에 근본적으로는 차이가 없다</a:t>
            </a:r>
            <a:r>
              <a:rPr lang="en-US" altLang="ko-KR" sz="900" dirty="0" smtClean="0"/>
              <a:t>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000" dirty="0" err="1" smtClean="0"/>
              <a:t>퍼셉트론을</a:t>
            </a:r>
            <a:r>
              <a:rPr lang="ko-KR" altLang="en-US" sz="1000" dirty="0" smtClean="0"/>
              <a:t> 통해 쉽게 </a:t>
            </a:r>
            <a:r>
              <a:rPr lang="en-US" altLang="ko-KR" sz="1000" dirty="0" smtClean="0"/>
              <a:t>AND, OR, NAND </a:t>
            </a:r>
            <a:r>
              <a:rPr lang="ko-KR" altLang="en-US" sz="1000" dirty="0" smtClean="0"/>
              <a:t>논리를 계산할 수 있다</a:t>
            </a:r>
            <a:r>
              <a:rPr lang="en-US" altLang="ko-KR" sz="1000" dirty="0" smtClean="0"/>
              <a:t>.</a:t>
            </a:r>
            <a:endParaRPr lang="en-US" altLang="ko-KR" sz="1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392" y="2190750"/>
            <a:ext cx="3153215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399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000" dirty="0" smtClean="0"/>
              <a:t>인공신경망의 개념</a:t>
            </a:r>
            <a:endParaRPr lang="ko-KR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90600" y="1276350"/>
                <a:ext cx="7010400" cy="2857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50" dirty="0" smtClean="0"/>
                  <a:t>퍼셉트론의 </a:t>
                </a:r>
                <a:r>
                  <a:rPr lang="ko-KR" altLang="en-US" sz="1050" dirty="0" err="1" smtClean="0"/>
                  <a:t>학습규칙은</a:t>
                </a:r>
                <a:r>
                  <a:rPr lang="ko-KR" altLang="en-US" sz="1050" dirty="0" smtClean="0"/>
                  <a:t> 매우 간단하며</a:t>
                </a:r>
                <a:r>
                  <a:rPr lang="en-US" altLang="ko-KR" sz="1050" dirty="0" smtClean="0"/>
                  <a:t>, </a:t>
                </a:r>
                <a:r>
                  <a:rPr lang="ko-KR" altLang="en-US" sz="1050" dirty="0" smtClean="0"/>
                  <a:t>훈련 샘플</a:t>
                </a:r>
                <a:r>
                  <a:rPr lang="en-US" altLang="ko-KR" sz="1050" dirty="0" smtClean="0"/>
                  <a:t>(</a:t>
                </a:r>
                <a:r>
                  <a:rPr lang="en-US" altLang="ko-KR" sz="1050" dirty="0" err="1" smtClean="0"/>
                  <a:t>x,y</a:t>
                </a:r>
                <a:r>
                  <a:rPr lang="en-US" altLang="ko-KR" sz="1050" dirty="0" smtClean="0"/>
                  <a:t>)</a:t>
                </a:r>
                <a:r>
                  <a:rPr lang="ko-KR" altLang="en-US" sz="1050" dirty="0" smtClean="0"/>
                  <a:t>에 대해 만약 </a:t>
                </a:r>
                <a:r>
                  <a:rPr lang="ko-KR" altLang="en-US" sz="1050" dirty="0" err="1" smtClean="0"/>
                  <a:t>퍼셉트론의</a:t>
                </a:r>
                <a:r>
                  <a:rPr lang="ko-KR" altLang="en-US" sz="1050" dirty="0" smtClean="0"/>
                  <a:t> 출력</a:t>
                </a:r>
                <a:r>
                  <a:rPr lang="en-US" altLang="ko-KR" sz="1050" dirty="0" smtClean="0"/>
                  <a:t>(</a:t>
                </a:r>
                <a:r>
                  <a:rPr lang="ko-KR" altLang="en-US" sz="1050" dirty="0" err="1" smtClean="0"/>
                  <a:t>예측값</a:t>
                </a:r>
                <a:r>
                  <a:rPr lang="en-US" altLang="ko-KR" sz="1050" dirty="0" smtClean="0"/>
                  <a:t>)</a:t>
                </a:r>
                <a:r>
                  <a:rPr lang="ko-KR" altLang="en-US" sz="1050" dirty="0" smtClean="0"/>
                  <a:t>이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ko-KR" altLang="en-US" sz="1050" i="1" dirty="0">
                        <a:latin typeface="Cambria Math" panose="02040503050406030204" pitchFamily="18" charset="0"/>
                      </a:rPr>
                      <m:t>일</m:t>
                    </m:r>
                  </m:oMath>
                </a14:m>
                <a:r>
                  <a:rPr lang="en-US" altLang="ko-KR" sz="1050" dirty="0" smtClean="0"/>
                  <a:t> </a:t>
                </a:r>
                <a:r>
                  <a:rPr lang="ko-KR" altLang="en-US" sz="1050" dirty="0" smtClean="0"/>
                  <a:t>때 </a:t>
                </a:r>
                <a:r>
                  <a:rPr lang="ko-KR" altLang="en-US" sz="1050" dirty="0" err="1" smtClean="0"/>
                  <a:t>퍼셉트론의</a:t>
                </a:r>
                <a:r>
                  <a:rPr lang="ko-KR" altLang="en-US" sz="1050" dirty="0" smtClean="0"/>
                  <a:t> 가중치를 조정한다</a:t>
                </a:r>
                <a:r>
                  <a:rPr lang="en-US" altLang="ko-KR" sz="1050" dirty="0" smtClean="0"/>
                  <a:t>.</a:t>
                </a:r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ko-KR" sz="1100" dirty="0" smtClean="0"/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sz="1100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100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𝜂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ko-KR" sz="1100" b="0" dirty="0" smtClean="0"/>
              </a:p>
              <a:p>
                <a:pPr>
                  <a:spcAft>
                    <a:spcPts val="600"/>
                  </a:spcAft>
                </a:pPr>
                <a:endParaRPr lang="en-US" altLang="ko-KR" sz="1100" dirty="0"/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000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ko-KR" altLang="en-US" sz="1000" i="1" smtClean="0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 sz="1000" b="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ko-KR" sz="1000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∈(0,1)</m:t>
                    </m:r>
                  </m:oMath>
                </a14:m>
                <a:r>
                  <a:rPr lang="ko-KR" altLang="en-US" sz="1000" b="0" dirty="0" smtClean="0"/>
                  <a:t>이며 이는 </a:t>
                </a:r>
                <a:r>
                  <a:rPr lang="en-US" altLang="ko-KR" sz="1000" b="0" dirty="0" smtClean="0"/>
                  <a:t>learning rate</a:t>
                </a:r>
                <a:r>
                  <a:rPr lang="ko-KR" altLang="en-US" sz="1000" b="0" dirty="0" smtClean="0"/>
                  <a:t>에 해당</a:t>
                </a:r>
                <a:r>
                  <a:rPr lang="en-US" altLang="ko-KR" sz="1000" b="0" dirty="0" smtClean="0"/>
                  <a:t>, </a:t>
                </a:r>
                <a:r>
                  <a:rPr lang="ko-KR" altLang="en-US" sz="1000" b="0" dirty="0" smtClean="0"/>
                  <a:t>만약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10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0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ko-KR" sz="1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000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sz="1000" b="0" dirty="0" smtClean="0"/>
                  <a:t> </a:t>
                </a:r>
                <a:r>
                  <a:rPr lang="ko-KR" altLang="en-US" sz="1000" b="0" dirty="0" smtClean="0"/>
                  <a:t>라면 </a:t>
                </a:r>
                <a:r>
                  <a:rPr lang="ko-KR" altLang="en-US" sz="1000" b="0" dirty="0" err="1" smtClean="0"/>
                  <a:t>퍼셉트론의</a:t>
                </a:r>
                <a:r>
                  <a:rPr lang="ko-KR" altLang="en-US" sz="1000" b="0" dirty="0" smtClean="0"/>
                  <a:t> 가중치에 아무런 변화도 일어나지 않고 반대의 경우 틀린 정도에 따라 가중치를 조절한다</a:t>
                </a:r>
                <a:r>
                  <a:rPr lang="en-US" altLang="ko-KR" sz="1000" b="0" dirty="0" smtClean="0"/>
                  <a:t>.</a:t>
                </a:r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00" dirty="0" smtClean="0"/>
                  <a:t>하지만 위의 </a:t>
                </a:r>
                <a:r>
                  <a:rPr lang="ko-KR" altLang="en-US" sz="1000" dirty="0" err="1" smtClean="0"/>
                  <a:t>퍼셉트론</a:t>
                </a:r>
                <a:r>
                  <a:rPr lang="ko-KR" altLang="en-US" sz="1000" dirty="0" smtClean="0"/>
                  <a:t> 모델은 오직 한 층의 기능성 </a:t>
                </a:r>
                <a:r>
                  <a:rPr lang="ko-KR" altLang="en-US" sz="1000" dirty="0" err="1" smtClean="0"/>
                  <a:t>뉴런만을</a:t>
                </a:r>
                <a:r>
                  <a:rPr lang="ko-KR" altLang="en-US" sz="1000" dirty="0" smtClean="0"/>
                  <a:t> 보유하므로 학습능력이 매우 제한적이다</a:t>
                </a:r>
                <a:r>
                  <a:rPr lang="en-US" altLang="ko-KR" sz="1000" dirty="0" smtClean="0"/>
                  <a:t>.</a:t>
                </a:r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00" b="0" dirty="0" smtClean="0"/>
                  <a:t>만약 이진 분류 문제가 선형 분리를 할 수 있다면 </a:t>
                </a:r>
                <a:r>
                  <a:rPr lang="ko-KR" altLang="en-US" sz="1000" b="0" dirty="0" err="1" smtClean="0"/>
                  <a:t>퍼셉트론</a:t>
                </a:r>
                <a:r>
                  <a:rPr lang="ko-KR" altLang="en-US" sz="1000" b="0" dirty="0" smtClean="0"/>
                  <a:t> 학습 프로세스는 반드시 수렴하지만</a:t>
                </a:r>
                <a:r>
                  <a:rPr lang="en-US" altLang="ko-KR" sz="1000" b="0" dirty="0" smtClean="0"/>
                  <a:t>, </a:t>
                </a:r>
                <a:r>
                  <a:rPr lang="ko-KR" altLang="en-US" sz="1000" b="0" dirty="0" smtClean="0"/>
                  <a:t>반대의 경우에는</a:t>
                </a:r>
                <a:r>
                  <a:rPr lang="en-US" altLang="ko-KR" sz="1000" b="0" dirty="0" smtClean="0"/>
                  <a:t>(</a:t>
                </a:r>
                <a:r>
                  <a:rPr lang="ko-KR" altLang="en-US" sz="1000" b="0" dirty="0" smtClean="0"/>
                  <a:t>선형 분리를 할 수 없다면</a:t>
                </a:r>
                <a:r>
                  <a:rPr lang="en-US" altLang="ko-KR" sz="1000" b="0" dirty="0" smtClean="0"/>
                  <a:t>) </a:t>
                </a:r>
                <a:r>
                  <a:rPr lang="ko-KR" altLang="en-US" sz="1000" b="0" dirty="0" smtClean="0"/>
                  <a:t>적당한 해를 구할 수 없다</a:t>
                </a:r>
                <a:r>
                  <a:rPr lang="en-US" altLang="ko-KR" sz="1000" b="0" dirty="0" smtClean="0"/>
                  <a:t>.</a:t>
                </a:r>
                <a:r>
                  <a:rPr lang="en-US" altLang="ko-KR" sz="700" b="0" dirty="0" smtClean="0"/>
                  <a:t>(Minsky and </a:t>
                </a:r>
                <a:r>
                  <a:rPr lang="en-US" altLang="ko-KR" sz="700" b="0" dirty="0" err="1" smtClean="0"/>
                  <a:t>Papert</a:t>
                </a:r>
                <a:r>
                  <a:rPr lang="en-US" altLang="ko-KR" sz="700" b="0" dirty="0" smtClean="0"/>
                  <a:t>, 1969)</a:t>
                </a:r>
                <a:endParaRPr lang="en-US" altLang="ko-KR" sz="600" b="0" dirty="0" smtClean="0"/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00" dirty="0" smtClean="0"/>
                  <a:t>특히</a:t>
                </a:r>
                <a:r>
                  <a:rPr lang="en-US" altLang="ko-KR" sz="1000" dirty="0"/>
                  <a:t> </a:t>
                </a:r>
                <a:r>
                  <a:rPr lang="en-US" altLang="ko-KR" sz="1000" dirty="0" smtClean="0"/>
                  <a:t>XOR </a:t>
                </a:r>
                <a:r>
                  <a:rPr lang="ko-KR" altLang="en-US" sz="1000" dirty="0" smtClean="0"/>
                  <a:t>게이트 같은 </a:t>
                </a:r>
                <a:r>
                  <a:rPr lang="ko-KR" altLang="en-US" sz="1000" dirty="0" err="1" smtClean="0"/>
                  <a:t>선형분리가</a:t>
                </a:r>
                <a:r>
                  <a:rPr lang="ko-KR" altLang="en-US" sz="1000" dirty="0" smtClean="0"/>
                  <a:t> 되지 않는 간단한 문제도 풀지 못한다</a:t>
                </a:r>
                <a:r>
                  <a:rPr lang="en-US" altLang="ko-KR" sz="1000" dirty="0" smtClean="0"/>
                  <a:t>.</a:t>
                </a:r>
                <a:endParaRPr lang="en-US" altLang="ko-KR" sz="1000" b="0" dirty="0" smtClean="0"/>
              </a:p>
              <a:p>
                <a:pPr>
                  <a:spcAft>
                    <a:spcPts val="600"/>
                  </a:spcAft>
                </a:pPr>
                <a:endParaRPr lang="en-US" altLang="ko-KR" sz="11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276350"/>
                <a:ext cx="7010400" cy="28577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885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000" dirty="0"/>
              <a:t>인공신경망의 </a:t>
            </a:r>
            <a:r>
              <a:rPr lang="ko-KR" altLang="en-US" sz="2000" dirty="0" smtClean="0"/>
              <a:t>개념</a:t>
            </a:r>
            <a:endParaRPr lang="ko-KR" alt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990600" y="1138245"/>
            <a:ext cx="5105400" cy="484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000" dirty="0" smtClean="0"/>
              <a:t>단층 </a:t>
            </a:r>
            <a:r>
              <a:rPr lang="ko-KR" altLang="en-US" sz="1000" dirty="0" err="1" smtClean="0"/>
              <a:t>퍼셉트론의</a:t>
            </a:r>
            <a:r>
              <a:rPr lang="ko-KR" altLang="en-US" sz="1000" dirty="0" smtClean="0"/>
              <a:t> 경우 </a:t>
            </a:r>
            <a:r>
              <a:rPr lang="ko-KR" altLang="en-US" sz="1000" b="1" dirty="0" smtClean="0"/>
              <a:t>그림 </a:t>
            </a:r>
            <a:r>
              <a:rPr lang="en-US" altLang="ko-KR" sz="1000" b="1" dirty="0" smtClean="0"/>
              <a:t>5.4</a:t>
            </a:r>
            <a:r>
              <a:rPr lang="ko-KR" altLang="en-US" sz="1000" dirty="0" smtClean="0"/>
              <a:t>의 </a:t>
            </a:r>
            <a:r>
              <a:rPr lang="en-US" altLang="ko-KR" sz="1000" b="1" dirty="0" smtClean="0"/>
              <a:t>(d)</a:t>
            </a:r>
            <a:r>
              <a:rPr lang="ko-KR" altLang="en-US" sz="1000" dirty="0" smtClean="0"/>
              <a:t>의 문제인 </a:t>
            </a:r>
            <a:r>
              <a:rPr lang="en-US" altLang="ko-KR" sz="1000" dirty="0" smtClean="0"/>
              <a:t>XOR</a:t>
            </a:r>
            <a:r>
              <a:rPr lang="ko-KR" altLang="en-US" sz="1000" dirty="0" smtClean="0"/>
              <a:t>을 풀 수 없음</a:t>
            </a:r>
            <a:endParaRPr lang="en-US" altLang="ko-KR" sz="1100" dirty="0" smtClean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000" dirty="0" smtClean="0"/>
              <a:t>이러한 문제를 해결하기 위해 두 개의 신경망을 가진 </a:t>
            </a:r>
            <a:r>
              <a:rPr lang="ko-KR" altLang="en-US" sz="1000" dirty="0" err="1" smtClean="0"/>
              <a:t>퍼셉트론이</a:t>
            </a:r>
            <a:r>
              <a:rPr lang="ko-KR" altLang="en-US" sz="1000" dirty="0" smtClean="0"/>
              <a:t> 등장</a:t>
            </a:r>
            <a:r>
              <a:rPr lang="en-US" altLang="ko-KR" sz="700" b="1" dirty="0" smtClean="0"/>
              <a:t>(</a:t>
            </a:r>
            <a:r>
              <a:rPr lang="ko-KR" altLang="en-US" sz="700" b="1" dirty="0" smtClean="0"/>
              <a:t>그림 </a:t>
            </a:r>
            <a:r>
              <a:rPr lang="en-US" altLang="ko-KR" sz="700" b="1" dirty="0" smtClean="0"/>
              <a:t>5.5)</a:t>
            </a:r>
            <a:endParaRPr lang="en-US" altLang="ko-KR" sz="1100" b="1" dirty="0" smtClean="0"/>
          </a:p>
        </p:txBody>
      </p:sp>
      <p:grpSp>
        <p:nvGrpSpPr>
          <p:cNvPr id="9" name="그룹 8"/>
          <p:cNvGrpSpPr/>
          <p:nvPr/>
        </p:nvGrpSpPr>
        <p:grpSpPr>
          <a:xfrm>
            <a:off x="1219200" y="2038350"/>
            <a:ext cx="6841019" cy="2141132"/>
            <a:chOff x="1252719" y="2323666"/>
            <a:chExt cx="6841019" cy="2141132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52719" y="2323666"/>
              <a:ext cx="2772633" cy="2141132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67119" y="2620632"/>
              <a:ext cx="500851" cy="397370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51133" y="2620632"/>
              <a:ext cx="548437" cy="420468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05519" y="2624549"/>
              <a:ext cx="3488219" cy="15393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33241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000" dirty="0"/>
              <a:t>인공신경망의 </a:t>
            </a:r>
            <a:r>
              <a:rPr lang="ko-KR" altLang="en-US" sz="2000" dirty="0" smtClean="0"/>
              <a:t>개념</a:t>
            </a:r>
            <a:endParaRPr lang="ko-KR" alt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990600" y="1178808"/>
            <a:ext cx="7315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000" dirty="0" smtClean="0"/>
              <a:t>이러한 개념을 확장하여 다수의 뉴런을 사용해 만든 것을 </a:t>
            </a:r>
            <a:r>
              <a:rPr lang="ko-KR" altLang="en-US" sz="1000" dirty="0" err="1" smtClean="0"/>
              <a:t>인공신경망</a:t>
            </a:r>
            <a:r>
              <a:rPr lang="en-US" altLang="ko-KR" sz="1000" dirty="0" smtClean="0"/>
              <a:t>(Artificial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Neural Networks)</a:t>
            </a:r>
            <a:r>
              <a:rPr lang="ko-KR" altLang="en-US" sz="1000" dirty="0" smtClean="0"/>
              <a:t>라고 부른다</a:t>
            </a:r>
            <a:r>
              <a:rPr lang="en-US" altLang="ko-KR" sz="1000" dirty="0" smtClean="0"/>
              <a:t>.</a:t>
            </a:r>
            <a:endParaRPr lang="en-US" altLang="ko-KR" sz="1000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000" dirty="0"/>
              <a:t>인공신경망을 이해하기 위해서는 크게 </a:t>
            </a:r>
            <a:r>
              <a:rPr lang="en-US" altLang="ko-KR" sz="1000" dirty="0"/>
              <a:t>Activation Function</a:t>
            </a:r>
            <a:r>
              <a:rPr lang="ko-KR" altLang="en-US" sz="1000" dirty="0"/>
              <a:t>과 </a:t>
            </a:r>
            <a:r>
              <a:rPr lang="en-US" altLang="ko-KR" sz="1000" dirty="0"/>
              <a:t>Back Propagation</a:t>
            </a:r>
            <a:r>
              <a:rPr lang="ko-KR" altLang="en-US" sz="1000" dirty="0"/>
              <a:t>을 통해 최적 가중치를 찾아가는 방법을 이해하는 것이 필요하다</a:t>
            </a:r>
            <a:r>
              <a:rPr lang="en-US" altLang="ko-KR" sz="1000" dirty="0" smtClean="0"/>
              <a:t>.</a:t>
            </a:r>
            <a:endParaRPr lang="en-US" altLang="ko-KR" sz="10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534" y="2038350"/>
            <a:ext cx="3291331" cy="237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407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 smtClean="0"/>
              <a:t>Activation Function</a:t>
            </a:r>
            <a:endParaRPr lang="ko-KR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90600" y="1250020"/>
                <a:ext cx="7620000" cy="7143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000" dirty="0" smtClean="0"/>
                  <a:t>Activation Function</a:t>
                </a:r>
                <a:r>
                  <a:rPr lang="ko-KR" altLang="en-US" sz="1000" dirty="0" smtClean="0"/>
                  <a:t>이란</a:t>
                </a:r>
                <a:r>
                  <a:rPr lang="en-US" altLang="ko-KR" sz="1000" dirty="0" smtClean="0"/>
                  <a:t>, </a:t>
                </a:r>
                <a:r>
                  <a:rPr lang="ko-KR" altLang="en-US" sz="1000" dirty="0" err="1" smtClean="0"/>
                  <a:t>입력값에</a:t>
                </a:r>
                <a:r>
                  <a:rPr lang="ko-KR" altLang="en-US" sz="1000" dirty="0" smtClean="0"/>
                  <a:t> 가중치를 곱한 </a:t>
                </a:r>
                <a:r>
                  <a:rPr lang="ko-KR" altLang="en-US" sz="1000" dirty="0" err="1" smtClean="0"/>
                  <a:t>가중합</a:t>
                </a:r>
                <a:r>
                  <a:rPr lang="en-US" altLang="ko-KR" sz="1000" dirty="0" smtClean="0"/>
                  <a:t>, </a:t>
                </a:r>
                <a:r>
                  <a:rPr lang="ko-KR" altLang="en-US" sz="1000" dirty="0" smtClean="0"/>
                  <a:t>즉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ko-KR" altLang="en-US" sz="1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ko-KR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ko-KR" altLang="en-US" sz="1000" i="1">
                        <a:latin typeface="Cambria Math" panose="02040503050406030204" pitchFamily="18" charset="0"/>
                      </a:rPr>
                      <m:t>을</m:t>
                    </m:r>
                  </m:oMath>
                </a14:m>
                <a:r>
                  <a:rPr lang="ko-KR" altLang="en-US" sz="1000" dirty="0" smtClean="0"/>
                  <a:t> 어떻게 출력할지를 결정하는 함수라고 할 수 있다</a:t>
                </a:r>
                <a:r>
                  <a:rPr lang="en-US" altLang="ko-KR" sz="1000" dirty="0" smtClean="0"/>
                  <a:t>.</a:t>
                </a:r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00" dirty="0" smtClean="0"/>
                  <a:t>이 </a:t>
                </a:r>
                <a:r>
                  <a:rPr lang="ko-KR" altLang="en-US" sz="1000" dirty="0" err="1" smtClean="0"/>
                  <a:t>출력값은</a:t>
                </a:r>
                <a:r>
                  <a:rPr lang="ko-KR" altLang="en-US" sz="1000" dirty="0" smtClean="0"/>
                  <a:t> 인공신경망에서 다음 뉴런의 </a:t>
                </a:r>
                <a:r>
                  <a:rPr lang="ko-KR" altLang="en-US" sz="1000" dirty="0" err="1" smtClean="0"/>
                  <a:t>입력값으로</a:t>
                </a:r>
                <a:r>
                  <a:rPr lang="ko-KR" altLang="en-US" sz="1000" dirty="0" smtClean="0"/>
                  <a:t> 입력되기도 하고 </a:t>
                </a:r>
                <a:r>
                  <a:rPr lang="en-US" altLang="ko-KR" sz="1000" dirty="0" smtClean="0"/>
                  <a:t>Activation Function</a:t>
                </a:r>
                <a:r>
                  <a:rPr lang="ko-KR" altLang="en-US" sz="1000" dirty="0" smtClean="0"/>
                  <a:t>에 따라서는 </a:t>
                </a:r>
                <a:r>
                  <a:rPr lang="ko-KR" altLang="en-US" sz="1000" dirty="0" err="1" smtClean="0"/>
                  <a:t>예측값이</a:t>
                </a:r>
                <a:r>
                  <a:rPr lang="ko-KR" altLang="en-US" sz="1000" dirty="0" smtClean="0"/>
                  <a:t> 되기도 한다</a:t>
                </a:r>
                <a:r>
                  <a:rPr lang="en-US" altLang="ko-KR" sz="1000" dirty="0" smtClean="0"/>
                  <a:t>.</a:t>
                </a:r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000" dirty="0"/>
                  <a:t>Activation Function</a:t>
                </a:r>
                <a:r>
                  <a:rPr lang="ko-KR" altLang="en-US" sz="1000" dirty="0"/>
                  <a:t>으로 자주 사용되는 </a:t>
                </a:r>
                <a:r>
                  <a:rPr lang="ko-KR" altLang="en-US" sz="1000" dirty="0" err="1"/>
                  <a:t>시그모이드</a:t>
                </a:r>
                <a:r>
                  <a:rPr lang="ko-KR" altLang="en-US" sz="1000" dirty="0"/>
                  <a:t> 함수를 통해 어떻게 단층 </a:t>
                </a:r>
                <a:r>
                  <a:rPr lang="ko-KR" altLang="en-US" sz="1000" dirty="0" err="1"/>
                  <a:t>퍼셉트론이</a:t>
                </a:r>
                <a:r>
                  <a:rPr lang="ko-KR" altLang="en-US" sz="1000" dirty="0"/>
                  <a:t> </a:t>
                </a:r>
                <a:r>
                  <a:rPr lang="ko-KR" altLang="en-US" sz="1000" dirty="0" err="1"/>
                  <a:t>출력값을</a:t>
                </a:r>
                <a:r>
                  <a:rPr lang="ko-KR" altLang="en-US" sz="1000" dirty="0"/>
                  <a:t> 만들어내는지 알아보자</a:t>
                </a:r>
                <a:r>
                  <a:rPr lang="en-US" altLang="ko-KR" sz="1000" dirty="0" smtClean="0"/>
                  <a:t>.</a:t>
                </a:r>
                <a:endParaRPr lang="en-US" altLang="ko-KR" sz="1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250020"/>
                <a:ext cx="7620000" cy="714363"/>
              </a:xfrm>
              <a:prstGeom prst="rect">
                <a:avLst/>
              </a:prstGeom>
              <a:blipFill>
                <a:blip r:embed="rId2"/>
                <a:stretch>
                  <a:fillRect t="-29060" b="-42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632" y="2636383"/>
            <a:ext cx="3656297" cy="1460023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39206">
            <a:off x="5337458" y="2514214"/>
            <a:ext cx="3235067" cy="170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286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109" y="2695019"/>
            <a:ext cx="2810182" cy="17700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37249" y="1062346"/>
                <a:ext cx="6717102" cy="1601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00" dirty="0" smtClean="0"/>
                  <a:t>이미지가 포도인지 레몬인지를 구별하는 </a:t>
                </a:r>
                <a:r>
                  <a:rPr lang="ko-KR" altLang="en-US" sz="1000" dirty="0" err="1" smtClean="0"/>
                  <a:t>인공신경망</a:t>
                </a:r>
                <a:r>
                  <a:rPr lang="ko-KR" altLang="en-US" sz="1000" dirty="0" smtClean="0"/>
                  <a:t> 모델을 만든다고 생각해보자</a:t>
                </a:r>
                <a:r>
                  <a:rPr lang="en-US" altLang="ko-KR" sz="1000" dirty="0" smtClean="0"/>
                  <a:t>. </a:t>
                </a:r>
              </a:p>
              <a:p>
                <a:pPr marL="628650" lvl="1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900" dirty="0"/>
                  <a:t>이미지의 픽셀은 </a:t>
                </a:r>
                <a:r>
                  <a:rPr lang="en-US" altLang="ko-KR" sz="900" dirty="0"/>
                  <a:t>2x2</a:t>
                </a:r>
                <a:r>
                  <a:rPr lang="ko-KR" altLang="en-US" sz="900" dirty="0"/>
                  <a:t>이며 픽셀을 신경망에 넣기 위해 이미지 데이터 벡터로 변환했다고 가정한다</a:t>
                </a:r>
                <a:r>
                  <a:rPr lang="en-US" altLang="ko-KR" sz="900" dirty="0"/>
                  <a:t>.</a:t>
                </a:r>
                <a:endParaRPr lang="en-US" altLang="ko-KR" sz="900" dirty="0" smtClean="0"/>
              </a:p>
              <a:p>
                <a:pPr marL="628650" lvl="1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900" dirty="0" smtClean="0"/>
                  <a:t>데이터 벡터로 변환했다는 말은 행렬 원소를 </a:t>
                </a:r>
                <a:r>
                  <a:rPr lang="en-US" altLang="ko-KR" sz="900" dirty="0" smtClean="0"/>
                  <a:t>2x2</a:t>
                </a:r>
                <a:r>
                  <a:rPr lang="ko-KR" altLang="en-US" sz="900" dirty="0" smtClean="0"/>
                  <a:t>행렬을 길게 늘어뜨려 벡터의 형태로 만드는 것을 의미한다</a:t>
                </a:r>
                <a:r>
                  <a:rPr lang="en-US" altLang="ko-KR" sz="900" dirty="0" smtClean="0"/>
                  <a:t>.</a:t>
                </a:r>
              </a:p>
              <a:p>
                <a:pPr marL="628650" lvl="1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900" dirty="0" smtClean="0"/>
                  <a:t>가중치 벡터는 임의로 설정한다</a:t>
                </a:r>
                <a:r>
                  <a:rPr lang="en-US" altLang="ko-KR" sz="900" dirty="0" smtClean="0"/>
                  <a:t>.</a:t>
                </a:r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00" dirty="0" smtClean="0"/>
                  <a:t>여기서 </a:t>
                </a:r>
                <a:r>
                  <a:rPr lang="ko-KR" altLang="en-US" sz="1000" dirty="0" err="1" smtClean="0"/>
                  <a:t>가중합</a:t>
                </a:r>
                <a:r>
                  <a:rPr lang="ko-KR" altLang="en-US" sz="1000" dirty="0" smtClean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ko-KR" altLang="en-US" sz="1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ko-KR" sz="1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1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ko-KR" altLang="en-US" sz="1000" dirty="0" smtClean="0"/>
                  <a:t>에 </a:t>
                </a:r>
                <a:r>
                  <a:rPr lang="en-US" altLang="ko-KR" sz="1000" dirty="0" smtClean="0"/>
                  <a:t>bias</a:t>
                </a:r>
                <a:r>
                  <a:rPr lang="ko-KR" altLang="en-US" sz="1000" dirty="0" smtClean="0"/>
                  <a:t>를 더하면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ko-KR" altLang="en-US" sz="1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ko-KR" sz="1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1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000" i="1">
                        <a:latin typeface="Cambria Math" panose="02040503050406030204" pitchFamily="18" charset="0"/>
                      </a:rPr>
                      <m:t>2∗2+3∗1+5∗−3</m:t>
                    </m:r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+1∗3</m:t>
                    </m:r>
                    <m:r>
                      <a:rPr lang="ko-KR" altLang="en-US" sz="1000" i="1" smtClean="0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sz="1000" dirty="0" smtClean="0"/>
                  <a:t>고 편향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0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sz="10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000" i="1">
                        <a:latin typeface="Cambria Math" panose="02040503050406030204" pitchFamily="18" charset="0"/>
                      </a:rPr>
                      <m:t>1∗3</m:t>
                    </m:r>
                    <m:r>
                      <a:rPr lang="ko-KR" altLang="en-US" sz="1000" i="1" smtClean="0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sz="1000" dirty="0" smtClean="0"/>
                  <a:t>다</a:t>
                </a:r>
                <a:r>
                  <a:rPr lang="en-US" altLang="ko-KR" sz="1000" dirty="0" smtClean="0"/>
                  <a:t>.</a:t>
                </a:r>
                <a:endParaRPr lang="en-US" altLang="ko-KR" sz="900" dirty="0" smtClean="0"/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00" dirty="0" smtClean="0"/>
                  <a:t>이를 통해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ko-KR" altLang="en-US" sz="1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ko-KR" sz="1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1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ko-KR" sz="10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0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sz="1000" b="0" i="0" smtClean="0">
                        <a:latin typeface="Cambria Math" panose="02040503050406030204" pitchFamily="18" charset="0"/>
                      </a:rPr>
                      <m:t>=−2</m:t>
                    </m:r>
                    <m:r>
                      <a:rPr lang="ko-KR" altLang="en-US" sz="1000" i="1">
                        <a:latin typeface="Cambria Math" panose="02040503050406030204" pitchFamily="18" charset="0"/>
                      </a:rPr>
                      <m:t>인</m:t>
                    </m:r>
                  </m:oMath>
                </a14:m>
                <a:r>
                  <a:rPr lang="en-US" altLang="ko-KR" sz="1000" dirty="0" smtClean="0"/>
                  <a:t> </a:t>
                </a:r>
                <a:r>
                  <a:rPr lang="ko-KR" altLang="en-US" sz="1000" dirty="0" smtClean="0"/>
                  <a:t>것을 확인할 수 있고 이를 </a:t>
                </a:r>
                <a:r>
                  <a:rPr lang="en-US" altLang="ko-KR" sz="1000" dirty="0" smtClean="0"/>
                  <a:t>Activation Function</a:t>
                </a:r>
                <a:r>
                  <a:rPr lang="ko-KR" altLang="en-US" sz="1000" dirty="0" smtClean="0"/>
                  <a:t>인 </a:t>
                </a:r>
                <a:r>
                  <a:rPr lang="ko-KR" altLang="en-US" sz="1000" dirty="0" err="1" smtClean="0"/>
                  <a:t>시그모이드</a:t>
                </a:r>
                <a:r>
                  <a:rPr lang="ko-KR" altLang="en-US" sz="1000" dirty="0" smtClean="0"/>
                  <a:t> 함수에 통과시키면</a:t>
                </a:r>
                <a:r>
                  <a:rPr lang="en-US" altLang="ko-KR" sz="1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ko-KR" sz="1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ko-KR" sz="1000" b="0" i="1" smtClean="0">
                                <a:latin typeface="Cambria Math" panose="02040503050406030204" pitchFamily="18" charset="0"/>
                              </a:rPr>
                              <m:t>−(−2)</m:t>
                            </m:r>
                          </m:sup>
                        </m:sSup>
                      </m:den>
                    </m:f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=0.119</m:t>
                    </m:r>
                  </m:oMath>
                </a14:m>
                <a:r>
                  <a:rPr lang="ko-KR" altLang="en-US" sz="1000" dirty="0" smtClean="0"/>
                  <a:t>가 되는 것을 확인할 수 있다</a:t>
                </a:r>
                <a:r>
                  <a:rPr lang="en-US" altLang="ko-KR" sz="1000" dirty="0" smtClean="0"/>
                  <a:t>.</a:t>
                </a:r>
                <a:endParaRPr lang="en-US" altLang="ko-KR" sz="9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249" y="1062346"/>
                <a:ext cx="6717102" cy="1601721"/>
              </a:xfrm>
              <a:prstGeom prst="rect">
                <a:avLst/>
              </a:prstGeom>
              <a:blipFill>
                <a:blip r:embed="rId3"/>
                <a:stretch>
                  <a:fillRect b="-68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3493699" y="4200493"/>
            <a:ext cx="4572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 err="1" smtClean="0"/>
              <a:t>입력값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3810000" y="4410189"/>
            <a:ext cx="685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 smtClean="0"/>
              <a:t>가중치 벡터</a:t>
            </a:r>
            <a:endParaRPr lang="ko-KR" altLang="en-US" sz="700" dirty="0"/>
          </a:p>
        </p:txBody>
      </p:sp>
      <p:sp>
        <p:nvSpPr>
          <p:cNvPr id="7" name="TextBox 6"/>
          <p:cNvSpPr txBox="1"/>
          <p:nvPr/>
        </p:nvSpPr>
        <p:spPr>
          <a:xfrm>
            <a:off x="4201489" y="4200494"/>
            <a:ext cx="4037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 smtClean="0"/>
              <a:t>편향</a:t>
            </a:r>
            <a:endParaRPr lang="ko-KR" altLang="en-US" sz="700" dirty="0"/>
          </a:p>
        </p:txBody>
      </p:sp>
      <p:sp>
        <p:nvSpPr>
          <p:cNvPr id="8" name="TextBox 7"/>
          <p:cNvSpPr txBox="1"/>
          <p:nvPr/>
        </p:nvSpPr>
        <p:spPr>
          <a:xfrm>
            <a:off x="4617879" y="4075799"/>
            <a:ext cx="4799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 err="1" smtClean="0"/>
              <a:t>가중합</a:t>
            </a:r>
            <a:endParaRPr lang="ko-KR" altLang="en-US" sz="700" dirty="0"/>
          </a:p>
        </p:txBody>
      </p:sp>
      <p:sp>
        <p:nvSpPr>
          <p:cNvPr id="9" name="TextBox 8"/>
          <p:cNvSpPr txBox="1"/>
          <p:nvPr/>
        </p:nvSpPr>
        <p:spPr>
          <a:xfrm>
            <a:off x="5334000" y="3638550"/>
            <a:ext cx="4799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smtClean="0"/>
              <a:t>출력값</a:t>
            </a:r>
            <a:endParaRPr lang="ko-KR" altLang="en-US" sz="700" dirty="0"/>
          </a:p>
        </p:txBody>
      </p:sp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457200" y="438150"/>
            <a:ext cx="8229600" cy="324036"/>
          </a:xfrm>
        </p:spPr>
        <p:txBody>
          <a:bodyPr/>
          <a:lstStyle/>
          <a:p>
            <a:r>
              <a:rPr lang="en-US" altLang="ko-KR" sz="2000" dirty="0" smtClean="0"/>
              <a:t>Activation Function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0246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228" y="2114550"/>
            <a:ext cx="3737544" cy="23191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81200" y="3905249"/>
            <a:ext cx="93279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 smtClean="0"/>
              <a:t>포도 이미지 벡터</a:t>
            </a:r>
            <a:endParaRPr lang="ko-KR" altLang="en-US" sz="700" dirty="0"/>
          </a:p>
        </p:txBody>
      </p:sp>
      <p:sp>
        <p:nvSpPr>
          <p:cNvPr id="6" name="직사각형 5"/>
          <p:cNvSpPr/>
          <p:nvPr/>
        </p:nvSpPr>
        <p:spPr>
          <a:xfrm>
            <a:off x="2819400" y="3943350"/>
            <a:ext cx="914400" cy="12385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1200" y="3777848"/>
            <a:ext cx="93279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 smtClean="0"/>
              <a:t>레몬 이미지 벡터</a:t>
            </a:r>
            <a:endParaRPr lang="ko-KR" altLang="en-US" sz="700" dirty="0"/>
          </a:p>
        </p:txBody>
      </p:sp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457200" y="438150"/>
            <a:ext cx="8229600" cy="324036"/>
          </a:xfrm>
        </p:spPr>
        <p:txBody>
          <a:bodyPr/>
          <a:lstStyle/>
          <a:p>
            <a:r>
              <a:rPr lang="en-US" altLang="ko-KR" sz="2000" dirty="0" smtClean="0"/>
              <a:t>Activation Function</a:t>
            </a:r>
            <a:endParaRPr lang="ko-KR" alt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1137249" y="1200150"/>
            <a:ext cx="6025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000" dirty="0"/>
              <a:t>이를 확장하여 두 개의 뉴런을 가진 </a:t>
            </a:r>
            <a:r>
              <a:rPr lang="ko-KR" altLang="en-US" sz="1000" dirty="0" err="1"/>
              <a:t>퍼셉트론</a:t>
            </a:r>
            <a:r>
              <a:rPr lang="ko-KR" altLang="en-US" sz="1000" dirty="0"/>
              <a:t> 모델을 구현하면 아래와 같은 포도와 레몬을 분류하는 </a:t>
            </a:r>
            <a:r>
              <a:rPr lang="ko-KR" altLang="en-US" sz="1000" dirty="0" smtClean="0"/>
              <a:t>간단한 </a:t>
            </a:r>
            <a:r>
              <a:rPr lang="ko-KR" altLang="en-US" sz="1000" dirty="0" err="1"/>
              <a:t>인공신경망</a:t>
            </a:r>
            <a:r>
              <a:rPr lang="ko-KR" altLang="en-US" sz="1000" dirty="0"/>
              <a:t> 모델을 구현할 수 있다</a:t>
            </a:r>
            <a:r>
              <a:rPr lang="en-US" altLang="ko-KR" sz="1000" dirty="0"/>
              <a:t>.</a:t>
            </a:r>
            <a:endParaRPr lang="en-US" altLang="ko-KR" sz="900" dirty="0"/>
          </a:p>
        </p:txBody>
      </p:sp>
    </p:spTree>
    <p:extLst>
      <p:ext uri="{BB962C8B-B14F-4D97-AF65-F5344CB8AC3E}">
        <p14:creationId xmlns:p14="http://schemas.microsoft.com/office/powerpoint/2010/main" val="4263067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37249" y="1200150"/>
                <a:ext cx="6025551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00" dirty="0"/>
                  <a:t>앞서 언급한 포도와 레몬을 분류해내는 </a:t>
                </a:r>
                <a:r>
                  <a:rPr lang="ko-KR" altLang="en-US" sz="1000" dirty="0" err="1"/>
                  <a:t>인공신경망</a:t>
                </a:r>
                <a:r>
                  <a:rPr lang="ko-KR" altLang="en-US" sz="1000" dirty="0"/>
                  <a:t> 모델에서는 가중치 벡터를 어떻게 구하는지 나와있지 않았지만 실무에서 </a:t>
                </a:r>
                <a:r>
                  <a:rPr lang="ko-KR" altLang="en-US" sz="1000" dirty="0" err="1"/>
                  <a:t>인공신경망</a:t>
                </a:r>
                <a:r>
                  <a:rPr lang="ko-KR" altLang="en-US" sz="1000" dirty="0"/>
                  <a:t> 모델을 사용하는 경우 가장 관심이 있는 중 하나는 바로 포도와 레몬을 분류해낼 수 있는 적절한 가중치 벡터를 구하는 방법일 것이다</a:t>
                </a:r>
                <a:r>
                  <a:rPr lang="en-US" altLang="ko-KR" sz="1000" dirty="0"/>
                  <a:t>.</a:t>
                </a:r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00" dirty="0"/>
                  <a:t>인공신경망의 층이 깊어질수록 학습해야 하는 </a:t>
                </a:r>
                <a:r>
                  <a:rPr lang="ko-KR" altLang="en-US" sz="1000" dirty="0" err="1"/>
                  <a:t>파라미터의</a:t>
                </a:r>
                <a:r>
                  <a:rPr lang="ko-KR" altLang="en-US" sz="1000" dirty="0"/>
                  <a:t> 수는 기하급수적으로 늘어나고 수많은 연산을 필요로 한다</a:t>
                </a:r>
                <a:r>
                  <a:rPr lang="en-US" altLang="ko-KR" sz="1000" dirty="0"/>
                  <a:t>. </a:t>
                </a:r>
                <a:r>
                  <a:rPr lang="ko-KR" altLang="en-US" sz="1000" dirty="0"/>
                  <a:t>다층 네트워크를 훈련시키기 위해서는 앞서 설명했던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000" i="1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ko-KR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00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00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altLang="ko-KR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000" dirty="0"/>
                  <a:t> 과 같은 단순 </a:t>
                </a:r>
                <a:r>
                  <a:rPr lang="ko-KR" altLang="en-US" sz="1000" dirty="0" err="1"/>
                  <a:t>퍼셉트론</a:t>
                </a:r>
                <a:r>
                  <a:rPr lang="ko-KR" altLang="en-US" sz="1000" dirty="0"/>
                  <a:t> 학습 규칙으로 부족하고 더 강한 학습 알고리즘을 필요로 한다</a:t>
                </a:r>
                <a:r>
                  <a:rPr lang="en-US" altLang="ko-KR" sz="1000" dirty="0"/>
                  <a:t>.</a:t>
                </a:r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00" dirty="0"/>
                  <a:t>그 중 </a:t>
                </a:r>
                <a:r>
                  <a:rPr lang="en-US" altLang="ko-KR" sz="1000" dirty="0"/>
                  <a:t>Error </a:t>
                </a:r>
                <a:r>
                  <a:rPr lang="en-US" altLang="ko-KR" sz="1000" dirty="0" err="1" smtClean="0"/>
                  <a:t>BackPropagation</a:t>
                </a:r>
                <a:r>
                  <a:rPr lang="en-US" altLang="ko-KR" sz="1000" dirty="0" smtClean="0"/>
                  <a:t>(</a:t>
                </a:r>
                <a:r>
                  <a:rPr lang="ko-KR" altLang="en-US" sz="1000" dirty="0" smtClean="0"/>
                  <a:t>오차 </a:t>
                </a:r>
                <a:r>
                  <a:rPr lang="ko-KR" altLang="en-US" sz="1000" dirty="0" err="1" smtClean="0"/>
                  <a:t>역전파</a:t>
                </a:r>
                <a:r>
                  <a:rPr lang="en-US" altLang="ko-KR" sz="1000" dirty="0" smtClean="0"/>
                  <a:t>)</a:t>
                </a:r>
                <a:r>
                  <a:rPr lang="ko-KR" altLang="en-US" sz="1000" dirty="0" smtClean="0"/>
                  <a:t>는 </a:t>
                </a:r>
                <a:r>
                  <a:rPr lang="ko-KR" altLang="en-US" sz="1000" dirty="0"/>
                  <a:t>가장 대표적이며 오늘날까지 가장 성공한 신경망 학습 알고리즘 중 하나이다</a:t>
                </a:r>
                <a:r>
                  <a:rPr lang="en-US" altLang="ko-KR" sz="1000" dirty="0"/>
                  <a:t>.</a:t>
                </a:r>
                <a:r>
                  <a:rPr lang="ko-KR" altLang="en-US" sz="1000" dirty="0"/>
                  <a:t> </a:t>
                </a:r>
                <a:endParaRPr lang="en-US" altLang="ko-KR" sz="1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249" y="1200150"/>
                <a:ext cx="6025551" cy="1477328"/>
              </a:xfrm>
              <a:prstGeom prst="rect">
                <a:avLst/>
              </a:prstGeom>
              <a:blipFill>
                <a:blip r:embed="rId2"/>
                <a:stretch>
                  <a:fillRect b="-8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 smtClean="0"/>
              <a:t>Error Back Propagation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815962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495550"/>
            <a:ext cx="3395644" cy="165858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475" y="2473892"/>
            <a:ext cx="3271325" cy="15809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219200" y="1123950"/>
                <a:ext cx="6705600" cy="1191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00" dirty="0" smtClean="0"/>
                  <a:t>만약 인공신경망이 학습을 하는 과정</a:t>
                </a:r>
                <a:r>
                  <a:rPr lang="en-US" altLang="ko-KR" sz="700" dirty="0" smtClean="0"/>
                  <a:t>(</a:t>
                </a:r>
                <a:r>
                  <a:rPr lang="ko-KR" altLang="en-US" sz="700" dirty="0" smtClean="0"/>
                  <a:t>왼쪽</a:t>
                </a:r>
                <a:r>
                  <a:rPr lang="en-US" altLang="ko-KR" sz="700" dirty="0" smtClean="0"/>
                  <a:t>)</a:t>
                </a:r>
                <a:r>
                  <a:rPr lang="ko-KR" altLang="en-US" sz="1000" dirty="0" smtClean="0"/>
                  <a:t>을 함수</a:t>
                </a:r>
                <a:r>
                  <a:rPr lang="en-US" altLang="ko-KR" sz="700" dirty="0" smtClean="0"/>
                  <a:t>(</a:t>
                </a:r>
                <a:r>
                  <a:rPr lang="ko-KR" altLang="en-US" sz="700" dirty="0" smtClean="0"/>
                  <a:t>오른쪽</a:t>
                </a:r>
                <a:r>
                  <a:rPr lang="en-US" altLang="ko-KR" sz="700" dirty="0" smtClean="0"/>
                  <a:t>)</a:t>
                </a:r>
                <a:r>
                  <a:rPr lang="ko-KR" altLang="en-US" sz="1000" dirty="0" smtClean="0"/>
                  <a:t>로 표현하면 </a:t>
                </a:r>
                <a:r>
                  <a:rPr lang="ko-KR" altLang="en-US" sz="1000" dirty="0" err="1" smtClean="0"/>
                  <a:t>합성함수</a:t>
                </a:r>
                <a:r>
                  <a:rPr lang="ko-KR" altLang="en-US" sz="1000" dirty="0" smtClean="0"/>
                  <a:t> 형태로 표현할 수 있다</a:t>
                </a:r>
                <a:r>
                  <a:rPr lang="en-US" altLang="ko-KR" sz="1000" dirty="0" smtClean="0"/>
                  <a:t>.</a:t>
                </a:r>
                <a:endParaRPr lang="en-US" altLang="ko-KR" sz="900" dirty="0" smtClean="0"/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900" dirty="0" smtClean="0"/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00" dirty="0" smtClean="0"/>
                  <a:t>위와 같은 </a:t>
                </a:r>
                <a:r>
                  <a:rPr lang="en-US" altLang="ko-KR" sz="1000" dirty="0" smtClean="0"/>
                  <a:t>Chain Structure</a:t>
                </a:r>
                <a:r>
                  <a:rPr lang="ko-KR" altLang="en-US" sz="1000" dirty="0" smtClean="0"/>
                  <a:t>는 신경망에서 주로 쓰이는 구조로</a:t>
                </a:r>
                <a:r>
                  <a:rPr lang="en-US" altLang="ko-KR" sz="10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ko-KR" altLang="en-US" sz="1000" i="1">
                        <a:latin typeface="Cambria Math" panose="02040503050406030204" pitchFamily="18" charset="0"/>
                      </a:rPr>
                      <m:t>을</m:t>
                    </m:r>
                  </m:oMath>
                </a14:m>
                <a:r>
                  <a:rPr lang="en-US" altLang="ko-KR" sz="1000" dirty="0" smtClean="0"/>
                  <a:t> </a:t>
                </a:r>
                <a:r>
                  <a:rPr lang="ko-KR" altLang="en-US" sz="1000" dirty="0" smtClean="0"/>
                  <a:t>첫 번째 신경망 층</a:t>
                </a:r>
                <a:r>
                  <a:rPr lang="en-US" altLang="ko-KR" sz="10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ko-KR" altLang="en-US" sz="1000" i="1" smtClean="0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en-US" altLang="ko-KR" sz="1000" dirty="0" smtClean="0"/>
                  <a:t> </a:t>
                </a:r>
                <a:r>
                  <a:rPr lang="ko-KR" altLang="en-US" sz="1000" dirty="0" smtClean="0"/>
                  <a:t>두 번째 신경망 층</a:t>
                </a:r>
                <a:r>
                  <a:rPr lang="en-US" altLang="ko-KR" sz="10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ko-KR" altLang="en-US" sz="1000" i="1" smtClean="0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 sz="1000" dirty="0" smtClean="0"/>
                  <a:t> </a:t>
                </a:r>
                <a:r>
                  <a:rPr lang="ko-KR" altLang="en-US" sz="1000" dirty="0" err="1" smtClean="0"/>
                  <a:t>출력층이라고</a:t>
                </a:r>
                <a:r>
                  <a:rPr lang="ko-KR" altLang="en-US" sz="1000" dirty="0" smtClean="0"/>
                  <a:t> 생각할 수 있다</a:t>
                </a:r>
                <a:r>
                  <a:rPr lang="en-US" altLang="ko-KR" sz="1000" dirty="0" smtClean="0"/>
                  <a:t>. </a:t>
                </a:r>
                <a:r>
                  <a:rPr lang="ko-KR" altLang="en-US" sz="1000" dirty="0" smtClean="0"/>
                  <a:t>이 때 합성 함수의 개수는 모형의 깊이</a:t>
                </a:r>
                <a:r>
                  <a:rPr lang="en-US" altLang="ko-KR" sz="1000" dirty="0" smtClean="0"/>
                  <a:t>(depth)</a:t>
                </a:r>
                <a:r>
                  <a:rPr lang="ko-KR" altLang="en-US" sz="1000" dirty="0" smtClean="0"/>
                  <a:t>를 의미하는데</a:t>
                </a:r>
                <a:r>
                  <a:rPr lang="en-US" altLang="ko-KR" sz="1000" dirty="0" smtClean="0"/>
                  <a:t>, </a:t>
                </a:r>
                <a:r>
                  <a:rPr lang="ko-KR" altLang="en-US" sz="1000" dirty="0" err="1" smtClean="0"/>
                  <a:t>딥러닝에서</a:t>
                </a:r>
                <a:r>
                  <a:rPr lang="ko-KR" altLang="en-US" sz="1000" dirty="0" smtClean="0"/>
                  <a:t> </a:t>
                </a:r>
                <a:r>
                  <a:rPr lang="en-US" altLang="ko-KR" sz="1000" dirty="0" smtClean="0"/>
                  <a:t>deep</a:t>
                </a:r>
                <a:r>
                  <a:rPr lang="ko-KR" altLang="en-US" sz="1000" dirty="0" smtClean="0"/>
                  <a:t>이라는 용어는 바로 여기서 나온 용어이다</a:t>
                </a:r>
                <a:r>
                  <a:rPr lang="en-US" altLang="ko-KR" sz="1000" dirty="0" smtClean="0"/>
                  <a:t>. </a:t>
                </a:r>
                <a:r>
                  <a:rPr lang="ko-KR" altLang="en-US" sz="1000" dirty="0" smtClean="0"/>
                  <a:t>즉</a:t>
                </a:r>
                <a:r>
                  <a:rPr lang="en-US" altLang="ko-KR" sz="1000" dirty="0" smtClean="0"/>
                  <a:t>, </a:t>
                </a:r>
                <a:r>
                  <a:rPr lang="ko-KR" altLang="en-US" sz="1000" dirty="0" err="1" smtClean="0"/>
                  <a:t>딥러닝의</a:t>
                </a:r>
                <a:r>
                  <a:rPr lang="ko-KR" altLang="en-US" sz="1000" dirty="0" smtClean="0"/>
                  <a:t> 학습 과정은 각 층을 연결하는 함수를 결정하는 과정이라고 할 수 있다</a:t>
                </a:r>
                <a:r>
                  <a:rPr lang="en-US" altLang="ko-KR" sz="1000" dirty="0" smtClean="0"/>
                  <a:t>.</a:t>
                </a:r>
                <a:endParaRPr lang="en-US" altLang="ko-KR" sz="9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1123950"/>
                <a:ext cx="6705600" cy="1191736"/>
              </a:xfrm>
              <a:prstGeom prst="rect">
                <a:avLst/>
              </a:prstGeom>
              <a:blipFill>
                <a:blip r:embed="rId4"/>
                <a:stretch>
                  <a:fillRect b="-15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457200" y="438150"/>
            <a:ext cx="8229600" cy="324036"/>
          </a:xfrm>
        </p:spPr>
        <p:txBody>
          <a:bodyPr/>
          <a:lstStyle/>
          <a:p>
            <a:r>
              <a:rPr lang="en-US" altLang="ko-KR" sz="2000" dirty="0" smtClean="0"/>
              <a:t>Error Back Propagation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26670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219200" y="1123950"/>
                <a:ext cx="7086600" cy="2423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1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sz="1000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sz="1000" dirty="0" smtClean="0"/>
                  <a:t> </a:t>
                </a:r>
                <a:r>
                  <a:rPr lang="ko-KR" altLang="en-US" sz="1000" dirty="0" smtClean="0"/>
                  <a:t>형태처럼 </a:t>
                </a:r>
                <a:r>
                  <a:rPr lang="ko-KR" altLang="en-US" sz="1000" dirty="0" err="1" smtClean="0"/>
                  <a:t>입력층</a:t>
                </a:r>
                <a:r>
                  <a:rPr lang="en-US" altLang="ko-KR" sz="1000" dirty="0" smtClean="0"/>
                  <a:t>-&gt;</a:t>
                </a:r>
                <a:r>
                  <a:rPr lang="ko-KR" altLang="en-US" sz="1000" dirty="0" err="1" smtClean="0"/>
                  <a:t>은닉층</a:t>
                </a:r>
                <a:r>
                  <a:rPr lang="en-US" altLang="ko-KR" sz="1000" dirty="0" smtClean="0"/>
                  <a:t>-&gt;</a:t>
                </a:r>
                <a:r>
                  <a:rPr lang="ko-KR" altLang="en-US" sz="1000" dirty="0" err="1" smtClean="0"/>
                  <a:t>출력층</a:t>
                </a:r>
                <a:r>
                  <a:rPr lang="ko-KR" altLang="en-US" sz="1000" dirty="0" smtClean="0"/>
                  <a:t> 순서대로 흘러가는 것을 </a:t>
                </a:r>
                <a:r>
                  <a:rPr lang="en-US" altLang="ko-KR" sz="1000" dirty="0" smtClean="0"/>
                  <a:t>Forward Propagation(</a:t>
                </a:r>
                <a:r>
                  <a:rPr lang="ko-KR" altLang="en-US" sz="1000" dirty="0" err="1" smtClean="0"/>
                  <a:t>순전파</a:t>
                </a:r>
                <a:r>
                  <a:rPr lang="en-US" altLang="ko-KR" sz="1000" dirty="0" smtClean="0"/>
                  <a:t>)</a:t>
                </a:r>
                <a:r>
                  <a:rPr lang="ko-KR" altLang="en-US" sz="1000" dirty="0" smtClean="0"/>
                  <a:t>라고 하며 반대로 </a:t>
                </a:r>
                <a:r>
                  <a:rPr lang="ko-KR" altLang="en-US" sz="1000" dirty="0" err="1" smtClean="0"/>
                  <a:t>출력층</a:t>
                </a:r>
                <a:r>
                  <a:rPr lang="en-US" altLang="ko-KR" sz="1000" dirty="0" smtClean="0"/>
                  <a:t>-&gt;</a:t>
                </a:r>
                <a:r>
                  <a:rPr lang="ko-KR" altLang="en-US" sz="1000" dirty="0" err="1" smtClean="0"/>
                  <a:t>은닉층</a:t>
                </a:r>
                <a:r>
                  <a:rPr lang="en-US" altLang="ko-KR" sz="1000" dirty="0" smtClean="0"/>
                  <a:t>-&gt;</a:t>
                </a:r>
                <a:r>
                  <a:rPr lang="ko-KR" altLang="en-US" sz="1000" dirty="0" err="1" smtClean="0"/>
                  <a:t>입력층의</a:t>
                </a:r>
                <a:r>
                  <a:rPr lang="ko-KR" altLang="en-US" sz="1000" dirty="0" smtClean="0"/>
                  <a:t> 형태로 반대로 거슬러 올라가는 형태를 </a:t>
                </a:r>
                <a:r>
                  <a:rPr lang="en-US" altLang="ko-KR" sz="1000" dirty="0" smtClean="0"/>
                  <a:t>Back Propagation(</a:t>
                </a:r>
                <a:r>
                  <a:rPr lang="ko-KR" altLang="en-US" sz="1000" dirty="0" err="1" smtClean="0"/>
                  <a:t>역전파</a:t>
                </a:r>
                <a:r>
                  <a:rPr lang="en-US" altLang="ko-KR" sz="1000" dirty="0" smtClean="0"/>
                  <a:t>)</a:t>
                </a:r>
                <a:r>
                  <a:rPr lang="ko-KR" altLang="en-US" sz="1000" dirty="0" smtClean="0"/>
                  <a:t>라고 한다</a:t>
                </a:r>
                <a:r>
                  <a:rPr lang="en-US" altLang="ko-KR" sz="1000" dirty="0" smtClean="0"/>
                  <a:t>. </a:t>
                </a:r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ko-KR" sz="1000" dirty="0" smtClean="0"/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ko-KR" sz="1000" dirty="0"/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ko-KR" sz="1000" dirty="0" smtClean="0"/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ko-KR" sz="1000" dirty="0"/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ko-KR" sz="1000" dirty="0" smtClean="0"/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ko-KR" sz="1000" dirty="0"/>
              </a:p>
              <a:p>
                <a:pPr>
                  <a:spcAft>
                    <a:spcPts val="600"/>
                  </a:spcAft>
                </a:pPr>
                <a:endParaRPr lang="en-US" altLang="ko-KR" sz="1000" dirty="0"/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00" dirty="0" smtClean="0"/>
                  <a:t>이 </a:t>
                </a:r>
                <a:r>
                  <a:rPr lang="en-US" altLang="ko-KR" sz="1000" dirty="0" smtClean="0"/>
                  <a:t>Back Propagation</a:t>
                </a:r>
                <a:r>
                  <a:rPr lang="ko-KR" altLang="en-US" sz="1000" dirty="0" smtClean="0"/>
                  <a:t>을 통해 우리가 얻고자 하는 것은 </a:t>
                </a:r>
                <a:r>
                  <a:rPr lang="ko-KR" altLang="en-US" sz="1000" dirty="0" err="1" smtClean="0"/>
                  <a:t>실제값</a:t>
                </a:r>
                <a:r>
                  <a:rPr lang="ko-KR" altLang="en-US" sz="10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ko-KR" altLang="en-US" sz="1000" i="1">
                        <a:latin typeface="Cambria Math" panose="02040503050406030204" pitchFamily="18" charset="0"/>
                      </a:rPr>
                      <m:t>와</m:t>
                    </m:r>
                  </m:oMath>
                </a14:m>
                <a:r>
                  <a:rPr lang="en-US" altLang="ko-KR" sz="1000" dirty="0" smtClean="0"/>
                  <a:t> </a:t>
                </a:r>
                <a:r>
                  <a:rPr lang="ko-KR" altLang="en-US" sz="1000" dirty="0" smtClean="0"/>
                  <a:t>예측값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ko-KR" altLang="en-US" sz="1000" i="1">
                        <a:latin typeface="Cambria Math" panose="02040503050406030204" pitchFamily="18" charset="0"/>
                      </a:rPr>
                      <m:t>간</m:t>
                    </m:r>
                  </m:oMath>
                </a14:m>
                <a:r>
                  <a:rPr lang="ko-KR" altLang="en-US" sz="1000" dirty="0" smtClean="0"/>
                  <a:t>의 차이를 줄이기 위해서 가중치 벡터</a:t>
                </a:r>
                <a:r>
                  <a:rPr lang="en-US" altLang="ko-KR" sz="1000" dirty="0" smtClean="0"/>
                  <a:t>(</a:t>
                </a:r>
                <a:r>
                  <a:rPr lang="ko-KR" altLang="en-US" sz="1000" dirty="0" err="1" smtClean="0"/>
                  <a:t>파라미터</a:t>
                </a:r>
                <a:r>
                  <a:rPr lang="en-US" altLang="ko-KR" sz="1000" dirty="0" smtClean="0"/>
                  <a:t>)</a:t>
                </a:r>
                <a:r>
                  <a:rPr lang="ko-KR" altLang="en-US" sz="1000" dirty="0" smtClean="0"/>
                  <a:t>를 어떻게 업데이트 해 나가야 할지를 결정하는 것이다</a:t>
                </a:r>
                <a:r>
                  <a:rPr lang="en-US" altLang="ko-KR" sz="1000" dirty="0" smtClean="0"/>
                  <a:t>.</a:t>
                </a:r>
                <a:r>
                  <a:rPr lang="ko-KR" altLang="en-US" sz="1000" dirty="0" smtClean="0"/>
                  <a:t> </a:t>
                </a:r>
                <a:endParaRPr lang="en-US" altLang="ko-KR" sz="1000" dirty="0" smtClean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1123950"/>
                <a:ext cx="7086600" cy="2423356"/>
              </a:xfrm>
              <a:prstGeom prst="rect">
                <a:avLst/>
              </a:prstGeom>
              <a:blipFill>
                <a:blip r:embed="rId2"/>
                <a:stretch>
                  <a:fillRect b="-2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457200" y="438150"/>
            <a:ext cx="8229600" cy="324036"/>
          </a:xfrm>
        </p:spPr>
        <p:txBody>
          <a:bodyPr/>
          <a:lstStyle/>
          <a:p>
            <a:r>
              <a:rPr lang="en-US" altLang="ko-KR" sz="2000" dirty="0" smtClean="0"/>
              <a:t>Error Back Propagation</a:t>
            </a:r>
            <a:endParaRPr lang="ko-KR" altLang="en-US" sz="2000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4911" y="1566488"/>
            <a:ext cx="3815178" cy="153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068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800350"/>
            <a:ext cx="3195403" cy="17081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9200" y="1123950"/>
            <a:ext cx="6705600" cy="1585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000" dirty="0" smtClean="0"/>
              <a:t>아래의 그림은 오차 </a:t>
            </a:r>
            <a:r>
              <a:rPr lang="ko-KR" altLang="en-US" sz="1000" dirty="0" err="1" smtClean="0"/>
              <a:t>역전파의</a:t>
            </a:r>
            <a:r>
              <a:rPr lang="ko-KR" altLang="en-US" sz="1000" dirty="0" smtClean="0"/>
              <a:t> 개념을 나타내며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화살표 실선은 </a:t>
            </a:r>
            <a:r>
              <a:rPr lang="ko-KR" altLang="en-US" sz="1000" dirty="0" err="1" smtClean="0"/>
              <a:t>순전파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점선은 </a:t>
            </a:r>
            <a:r>
              <a:rPr lang="ko-KR" altLang="en-US" sz="1000" dirty="0" err="1" smtClean="0"/>
              <a:t>역전파를</a:t>
            </a:r>
            <a:r>
              <a:rPr lang="ko-KR" altLang="en-US" sz="1000" dirty="0" smtClean="0"/>
              <a:t> 나타낸다</a:t>
            </a:r>
            <a:r>
              <a:rPr lang="en-US" altLang="ko-KR" sz="1000" dirty="0" smtClean="0"/>
              <a:t>.</a:t>
            </a:r>
            <a:r>
              <a:rPr lang="ko-KR" altLang="en-US" sz="900" dirty="0" smtClean="0"/>
              <a:t> </a:t>
            </a:r>
            <a:endParaRPr lang="en-US" altLang="ko-KR" sz="900" dirty="0" smtClean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000" dirty="0" smtClean="0"/>
              <a:t>오차 </a:t>
            </a:r>
            <a:r>
              <a:rPr lang="ko-KR" altLang="en-US" sz="1000" dirty="0" err="1" smtClean="0"/>
              <a:t>역전파의</a:t>
            </a:r>
            <a:r>
              <a:rPr lang="ko-KR" altLang="en-US" sz="1000" dirty="0" smtClean="0"/>
              <a:t> 과정은 다음과 같다</a:t>
            </a:r>
            <a:r>
              <a:rPr lang="en-US" altLang="ko-KR" sz="1000" dirty="0" smtClean="0"/>
              <a:t>.</a:t>
            </a:r>
            <a:endParaRPr lang="en-US" altLang="ko-KR" sz="900" dirty="0" smtClean="0"/>
          </a:p>
          <a:p>
            <a:pPr marL="685800" lvl="1" indent="-228600">
              <a:spcAft>
                <a:spcPts val="600"/>
              </a:spcAft>
              <a:buFont typeface="+mj-lt"/>
              <a:buAutoNum type="arabicPeriod"/>
            </a:pPr>
            <a:r>
              <a:rPr lang="ko-KR" altLang="en-US" sz="700" dirty="0" smtClean="0"/>
              <a:t>가중치 초기화</a:t>
            </a:r>
            <a:endParaRPr lang="en-US" altLang="ko-KR" sz="700" dirty="0" smtClean="0"/>
          </a:p>
          <a:p>
            <a:pPr marL="685800" lvl="1" indent="-228600">
              <a:spcAft>
                <a:spcPts val="600"/>
              </a:spcAft>
              <a:buFont typeface="+mj-lt"/>
              <a:buAutoNum type="arabicPeriod"/>
            </a:pPr>
            <a:r>
              <a:rPr lang="en-US" altLang="ko-KR" sz="700" dirty="0" smtClean="0"/>
              <a:t>Forward Propagation(</a:t>
            </a:r>
            <a:r>
              <a:rPr lang="ko-KR" altLang="en-US" sz="700" dirty="0" err="1" smtClean="0"/>
              <a:t>순전파</a:t>
            </a:r>
            <a:r>
              <a:rPr lang="en-US" altLang="ko-KR" sz="700" dirty="0" smtClean="0"/>
              <a:t>)</a:t>
            </a:r>
            <a:r>
              <a:rPr lang="ko-KR" altLang="en-US" sz="700" dirty="0" smtClean="0"/>
              <a:t>을</a:t>
            </a:r>
            <a:r>
              <a:rPr lang="en-US" altLang="ko-KR" sz="700" dirty="0" smtClean="0"/>
              <a:t> </a:t>
            </a:r>
            <a:r>
              <a:rPr lang="ko-KR" altLang="en-US" sz="700" dirty="0" smtClean="0"/>
              <a:t>통한 </a:t>
            </a:r>
            <a:r>
              <a:rPr lang="ko-KR" altLang="en-US" sz="700" dirty="0" err="1" smtClean="0"/>
              <a:t>출력값</a:t>
            </a:r>
            <a:r>
              <a:rPr lang="ko-KR" altLang="en-US" sz="700" dirty="0" smtClean="0"/>
              <a:t> 계산</a:t>
            </a:r>
            <a:endParaRPr lang="en-US" altLang="ko-KR" sz="700" dirty="0" smtClean="0"/>
          </a:p>
          <a:p>
            <a:pPr marL="685800" lvl="1" indent="-228600">
              <a:spcAft>
                <a:spcPts val="600"/>
              </a:spcAft>
              <a:buFont typeface="+mj-lt"/>
              <a:buAutoNum type="arabicPeriod"/>
            </a:pPr>
            <a:r>
              <a:rPr lang="en-US" altLang="ko-KR" sz="700" dirty="0" smtClean="0"/>
              <a:t>Cost Function(</a:t>
            </a:r>
            <a:r>
              <a:rPr lang="ko-KR" altLang="en-US" sz="700" dirty="0" smtClean="0"/>
              <a:t>비용 함수</a:t>
            </a:r>
            <a:r>
              <a:rPr lang="en-US" altLang="ko-KR" sz="700" dirty="0" smtClean="0"/>
              <a:t>)</a:t>
            </a:r>
            <a:r>
              <a:rPr lang="ko-KR" altLang="en-US" sz="700" dirty="0" smtClean="0"/>
              <a:t>정의 및 </a:t>
            </a:r>
            <a:r>
              <a:rPr lang="en-US" altLang="ko-KR" sz="700" dirty="0" smtClean="0"/>
              <a:t>1</a:t>
            </a:r>
            <a:r>
              <a:rPr lang="ko-KR" altLang="en-US" sz="700" dirty="0" smtClean="0"/>
              <a:t>차 </a:t>
            </a:r>
            <a:r>
              <a:rPr lang="ko-KR" altLang="en-US" sz="700" dirty="0" err="1" smtClean="0"/>
              <a:t>미분식</a:t>
            </a:r>
            <a:r>
              <a:rPr lang="ko-KR" altLang="en-US" sz="700" dirty="0" smtClean="0"/>
              <a:t> 구하기</a:t>
            </a:r>
            <a:endParaRPr lang="en-US" altLang="ko-KR" sz="700" dirty="0" smtClean="0"/>
          </a:p>
          <a:p>
            <a:pPr marL="685800" lvl="1" indent="-228600">
              <a:spcAft>
                <a:spcPts val="600"/>
              </a:spcAft>
              <a:buFont typeface="+mj-lt"/>
              <a:buAutoNum type="arabicPeriod"/>
            </a:pPr>
            <a:r>
              <a:rPr lang="en-US" altLang="ko-KR" sz="700" dirty="0" smtClean="0"/>
              <a:t>Back Propagation(</a:t>
            </a:r>
            <a:r>
              <a:rPr lang="ko-KR" altLang="en-US" sz="700" dirty="0" err="1" smtClean="0"/>
              <a:t>역전파</a:t>
            </a:r>
            <a:r>
              <a:rPr lang="en-US" altLang="ko-KR" sz="700" dirty="0" smtClean="0"/>
              <a:t>)</a:t>
            </a:r>
            <a:r>
              <a:rPr lang="ko-KR" altLang="en-US" sz="700" dirty="0" smtClean="0"/>
              <a:t>를 통한 </a:t>
            </a:r>
            <a:r>
              <a:rPr lang="en-US" altLang="ko-KR" sz="700" dirty="0" smtClean="0"/>
              <a:t>1</a:t>
            </a:r>
            <a:r>
              <a:rPr lang="ko-KR" altLang="en-US" sz="700" dirty="0" smtClean="0"/>
              <a:t>차 </a:t>
            </a:r>
            <a:r>
              <a:rPr lang="ko-KR" altLang="en-US" sz="700" dirty="0" err="1" smtClean="0"/>
              <a:t>미분값</a:t>
            </a:r>
            <a:r>
              <a:rPr lang="ko-KR" altLang="en-US" sz="700" dirty="0" smtClean="0"/>
              <a:t> 구하기</a:t>
            </a:r>
            <a:endParaRPr lang="en-US" altLang="ko-KR" sz="700" dirty="0" smtClean="0"/>
          </a:p>
          <a:p>
            <a:pPr marL="685800" lvl="1" indent="-228600">
              <a:spcAft>
                <a:spcPts val="600"/>
              </a:spcAft>
              <a:buFont typeface="+mj-lt"/>
              <a:buAutoNum type="arabicPeriod"/>
            </a:pPr>
            <a:r>
              <a:rPr lang="en-US" altLang="ko-KR" sz="700" dirty="0" smtClean="0"/>
              <a:t>Parameter(</a:t>
            </a:r>
            <a:r>
              <a:rPr lang="ko-KR" altLang="en-US" sz="700" dirty="0" smtClean="0"/>
              <a:t>가중치 벡터</a:t>
            </a:r>
            <a:r>
              <a:rPr lang="en-US" altLang="ko-KR" sz="700" dirty="0" smtClean="0"/>
              <a:t>) </a:t>
            </a:r>
            <a:r>
              <a:rPr lang="ko-KR" altLang="en-US" sz="700" dirty="0" smtClean="0"/>
              <a:t>업데이트</a:t>
            </a:r>
            <a:endParaRPr lang="en-US" altLang="ko-KR" sz="700" dirty="0" smtClean="0"/>
          </a:p>
          <a:p>
            <a:pPr marL="685800" lvl="1" indent="-228600">
              <a:spcAft>
                <a:spcPts val="600"/>
              </a:spcAft>
              <a:buFont typeface="+mj-lt"/>
              <a:buAutoNum type="arabicPeriod"/>
            </a:pPr>
            <a:r>
              <a:rPr lang="en-US" altLang="ko-KR" sz="700" dirty="0" smtClean="0"/>
              <a:t>(2)~(6)</a:t>
            </a:r>
            <a:r>
              <a:rPr lang="ko-KR" altLang="en-US" sz="700" dirty="0" smtClean="0"/>
              <a:t>과정 반복</a:t>
            </a:r>
            <a:endParaRPr lang="en-US" altLang="ko-KR" sz="700" dirty="0" smtClean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457200" y="438150"/>
            <a:ext cx="8229600" cy="324036"/>
          </a:xfrm>
        </p:spPr>
        <p:txBody>
          <a:bodyPr/>
          <a:lstStyle/>
          <a:p>
            <a:r>
              <a:rPr lang="en-US" altLang="ko-KR" sz="2000" dirty="0" smtClean="0"/>
              <a:t>Error Back Propagation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9204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742" y="2074939"/>
            <a:ext cx="3386515" cy="23233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219200" y="1123950"/>
                <a:ext cx="67056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00" dirty="0" smtClean="0"/>
                  <a:t>아래의 그림은 오차 </a:t>
                </a:r>
                <a:r>
                  <a:rPr lang="ko-KR" altLang="en-US" sz="1000" dirty="0" err="1" smtClean="0"/>
                  <a:t>역전파를</a:t>
                </a:r>
                <a:r>
                  <a:rPr lang="ko-KR" altLang="en-US" sz="1000" dirty="0" smtClean="0"/>
                  <a:t> 적용할 신경망의 예시이다</a:t>
                </a:r>
                <a:r>
                  <a:rPr lang="en-US" altLang="ko-KR" sz="1000" dirty="0" smtClean="0"/>
                  <a:t>.</a:t>
                </a:r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00" dirty="0" err="1" smtClean="0"/>
                  <a:t>입력값은</a:t>
                </a:r>
                <a:r>
                  <a:rPr lang="en-US" altLang="ko-KR" sz="1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=1,  </m:t>
                    </m:r>
                    <m:sSub>
                      <m:sSubPr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=2,  </m:t>
                    </m:r>
                    <m:sSub>
                      <m:sSubPr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ko-KR" altLang="en-US" sz="1000" dirty="0" smtClean="0"/>
                  <a:t>이며 구하려는 </a:t>
                </a:r>
                <a:r>
                  <a:rPr lang="ko-KR" altLang="en-US" sz="1000" dirty="0" err="1" smtClean="0"/>
                  <a:t>실제값은</a:t>
                </a:r>
                <a:r>
                  <a:rPr lang="ko-KR" altLang="en-US" sz="1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=0.5,  </m:t>
                    </m:r>
                    <m:sSub>
                      <m:sSubPr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=0.1 </m:t>
                    </m:r>
                  </m:oMath>
                </a14:m>
                <a:r>
                  <a:rPr lang="ko-KR" altLang="en-US" sz="1000" dirty="0" smtClean="0"/>
                  <a:t>이다</a:t>
                </a:r>
                <a:r>
                  <a:rPr lang="en-US" altLang="ko-KR" sz="1000" dirty="0" smtClean="0"/>
                  <a:t>.</a:t>
                </a:r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00" dirty="0" smtClean="0"/>
                  <a:t>가중치 초기화에는 여러가지 방법이 있지만 현재 예시에서는 임의의 값으로 초기화한다</a:t>
                </a:r>
                <a:r>
                  <a:rPr lang="en-US" altLang="ko-KR" sz="1000" dirty="0" smtClean="0"/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1123950"/>
                <a:ext cx="6705600" cy="707886"/>
              </a:xfrm>
              <a:prstGeom prst="rect">
                <a:avLst/>
              </a:prstGeom>
              <a:blipFill>
                <a:blip r:embed="rId3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457200" y="376453"/>
            <a:ext cx="8229600" cy="442697"/>
          </a:xfrm>
        </p:spPr>
        <p:txBody>
          <a:bodyPr/>
          <a:lstStyle/>
          <a:p>
            <a:r>
              <a:rPr lang="en-US" altLang="ko-KR" sz="2000" dirty="0" smtClean="0"/>
              <a:t>Error Back Propagation</a:t>
            </a:r>
            <a:br>
              <a:rPr lang="en-US" altLang="ko-KR" sz="2000" dirty="0" smtClean="0"/>
            </a:br>
            <a:r>
              <a:rPr lang="en-US" altLang="ko-KR" sz="900" dirty="0" smtClean="0"/>
              <a:t>1. </a:t>
            </a:r>
            <a:r>
              <a:rPr lang="ko-KR" altLang="en-US" sz="900" dirty="0" smtClean="0"/>
              <a:t>가중치 초기화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96298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152032"/>
            <a:ext cx="3096015" cy="22718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237132" y="1048354"/>
                <a:ext cx="6705600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00" dirty="0" smtClean="0"/>
                  <a:t>초기 가중치를 설정했다면 </a:t>
                </a:r>
                <a:r>
                  <a:rPr lang="ko-KR" altLang="en-US" sz="1000" dirty="0" err="1" smtClean="0"/>
                  <a:t>순전파</a:t>
                </a:r>
                <a:r>
                  <a:rPr lang="ko-KR" altLang="en-US" sz="1000" dirty="0" smtClean="0"/>
                  <a:t> 과정을 통해 </a:t>
                </a:r>
                <a:r>
                  <a:rPr lang="ko-KR" altLang="en-US" sz="1000" dirty="0" err="1" smtClean="0"/>
                  <a:t>입력층</a:t>
                </a:r>
                <a:r>
                  <a:rPr lang="ko-KR" altLang="en-US" sz="1000" dirty="0" smtClean="0"/>
                  <a:t> </a:t>
                </a:r>
                <a:r>
                  <a:rPr lang="en-US" altLang="ko-KR" sz="1000" dirty="0" smtClean="0"/>
                  <a:t>-&gt; </a:t>
                </a:r>
                <a:r>
                  <a:rPr lang="ko-KR" altLang="en-US" sz="1000" dirty="0" err="1" smtClean="0"/>
                  <a:t>은닉층으로</a:t>
                </a:r>
                <a:r>
                  <a:rPr lang="ko-KR" altLang="en-US" sz="1000" dirty="0" smtClean="0"/>
                  <a:t> 전파되는 </a:t>
                </a:r>
                <a:r>
                  <a:rPr lang="ko-KR" altLang="en-US" sz="1000" dirty="0" err="1" smtClean="0"/>
                  <a:t>출력값을</a:t>
                </a:r>
                <a:r>
                  <a:rPr lang="ko-KR" altLang="en-US" sz="1000" dirty="0" smtClean="0"/>
                  <a:t> 계산할 수 있다</a:t>
                </a:r>
                <a:r>
                  <a:rPr lang="en-US" altLang="ko-KR" sz="1000" dirty="0" smtClean="0"/>
                  <a:t>.</a:t>
                </a:r>
                <a:endParaRPr lang="en-US" altLang="ko-KR" sz="900" dirty="0" smtClean="0"/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ko-KR" altLang="en-US" sz="1000" i="1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 sz="1000" dirty="0" smtClean="0"/>
                  <a:t> </a:t>
                </a:r>
                <a:r>
                  <a:rPr lang="ko-KR" altLang="en-US" sz="1000" dirty="0" err="1" smtClean="0"/>
                  <a:t>가중합</a:t>
                </a:r>
                <a:r>
                  <a:rPr lang="en-US" altLang="ko-KR" sz="10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0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ko-KR" altLang="en-US" sz="1000" i="1" smtClean="0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 sz="1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0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000" dirty="0" smtClean="0"/>
                  <a:t>를 </a:t>
                </a:r>
                <a:r>
                  <a:rPr lang="ko-KR" altLang="en-US" sz="1000" dirty="0" err="1" smtClean="0"/>
                  <a:t>시그모이드</a:t>
                </a:r>
                <a:r>
                  <a:rPr lang="ko-KR" altLang="en-US" sz="1000" dirty="0" smtClean="0"/>
                  <a:t> 함수에 통과시킨 </a:t>
                </a:r>
                <a:r>
                  <a:rPr lang="ko-KR" altLang="en-US" sz="1000" dirty="0" err="1" smtClean="0"/>
                  <a:t>출력값이며</a:t>
                </a:r>
                <a:r>
                  <a:rPr lang="ko-KR" altLang="en-US" sz="1000" dirty="0" smtClean="0"/>
                  <a:t> 이를 행렬 형태로 나타낸 후 계산한 결과는 다음과 같다</a:t>
                </a:r>
                <a:r>
                  <a:rPr lang="en-US" altLang="ko-KR" sz="1000" dirty="0" smtClean="0"/>
                  <a:t>.</a:t>
                </a:r>
                <a:r>
                  <a:rPr lang="en-US" altLang="ko-KR" sz="700" dirty="0" smtClean="0"/>
                  <a:t>(</a:t>
                </a:r>
                <a:r>
                  <a:rPr lang="ko-KR" altLang="en-US" sz="700" dirty="0" smtClean="0"/>
                  <a:t>오른쪽</a:t>
                </a:r>
                <a:r>
                  <a:rPr lang="en-US" altLang="ko-KR" sz="700" dirty="0" smtClean="0"/>
                  <a:t>)</a:t>
                </a:r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=2.7, </m:t>
                    </m:r>
                    <m:r>
                      <a:rPr lang="en-US" altLang="ko-KR" sz="10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=3.3,  </m:t>
                    </m:r>
                    <m:sSub>
                      <m:sSubPr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=0.937, </m:t>
                    </m:r>
                    <m:sSub>
                      <m:sSubPr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=0.964</m:t>
                    </m:r>
                  </m:oMath>
                </a14:m>
                <a:r>
                  <a:rPr lang="ko-KR" altLang="en-US" sz="1000" dirty="0" smtClean="0"/>
                  <a:t>의 값을 얻었다</a:t>
                </a:r>
                <a:r>
                  <a:rPr lang="en-US" altLang="ko-KR" sz="1000" dirty="0" smtClean="0"/>
                  <a:t>.</a:t>
                </a:r>
                <a:endParaRPr lang="en-US" altLang="ko-KR" sz="9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7132" y="1048354"/>
                <a:ext cx="6705600" cy="861774"/>
              </a:xfrm>
              <a:prstGeom prst="rect">
                <a:avLst/>
              </a:prstGeom>
              <a:blipFill>
                <a:blip r:embed="rId3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그룹 6"/>
          <p:cNvGrpSpPr/>
          <p:nvPr/>
        </p:nvGrpSpPr>
        <p:grpSpPr>
          <a:xfrm>
            <a:off x="5334000" y="1785670"/>
            <a:ext cx="2756605" cy="2921788"/>
            <a:chOff x="4872939" y="1759483"/>
            <a:chExt cx="2756605" cy="2921788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72939" y="1759483"/>
              <a:ext cx="2756605" cy="2286255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33060" y="4019550"/>
              <a:ext cx="2434540" cy="661721"/>
            </a:xfrm>
            <a:prstGeom prst="rect">
              <a:avLst/>
            </a:prstGeom>
          </p:spPr>
        </p:pic>
      </p:grp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457200" y="376453"/>
            <a:ext cx="8229600" cy="442697"/>
          </a:xfrm>
        </p:spPr>
        <p:txBody>
          <a:bodyPr/>
          <a:lstStyle/>
          <a:p>
            <a:r>
              <a:rPr lang="en-US" altLang="ko-KR" sz="2000" dirty="0" smtClean="0"/>
              <a:t>Error Back Propagation</a:t>
            </a:r>
            <a:br>
              <a:rPr lang="en-US" altLang="ko-KR" sz="2000" dirty="0" smtClean="0"/>
            </a:br>
            <a:r>
              <a:rPr lang="en-US" altLang="ko-KR" sz="900" dirty="0" smtClean="0"/>
              <a:t>2. </a:t>
            </a:r>
            <a:r>
              <a:rPr lang="ko-KR" altLang="en-US" sz="900" dirty="0" err="1" smtClean="0"/>
              <a:t>순전파</a:t>
            </a:r>
            <a:r>
              <a:rPr lang="en-US" altLang="ko-KR" sz="900" dirty="0" smtClean="0"/>
              <a:t>(Forward Propagation)</a:t>
            </a:r>
            <a:r>
              <a:rPr lang="ko-KR" altLang="en-US" sz="900" dirty="0" smtClean="0"/>
              <a:t>을 통한 </a:t>
            </a:r>
            <a:r>
              <a:rPr lang="ko-KR" altLang="en-US" sz="900" dirty="0" err="1" smtClean="0"/>
              <a:t>출력값</a:t>
            </a:r>
            <a:r>
              <a:rPr lang="ko-KR" altLang="en-US" sz="900" dirty="0" smtClean="0"/>
              <a:t> 계산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71132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950" y="2419350"/>
            <a:ext cx="3447577" cy="221839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878" y="2176474"/>
            <a:ext cx="2440950" cy="189322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9878" y="4071407"/>
            <a:ext cx="2819400" cy="7207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219200" y="1019126"/>
                <a:ext cx="6705600" cy="1097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00" dirty="0" smtClean="0"/>
                  <a:t>은닉층 </a:t>
                </a:r>
                <a:r>
                  <a:rPr lang="en-US" altLang="ko-KR" sz="1000" dirty="0" smtClean="0"/>
                  <a:t>-&gt; </a:t>
                </a:r>
                <a:r>
                  <a:rPr lang="ko-KR" altLang="en-US" sz="1000" dirty="0" err="1" smtClean="0"/>
                  <a:t>출력층으로</a:t>
                </a:r>
                <a:r>
                  <a:rPr lang="ko-KR" altLang="en-US" sz="1000" dirty="0" smtClean="0"/>
                  <a:t> 전파되는 </a:t>
                </a:r>
                <a:r>
                  <a:rPr lang="ko-KR" altLang="en-US" sz="1000" dirty="0" err="1" smtClean="0"/>
                  <a:t>출력값을</a:t>
                </a:r>
                <a:r>
                  <a:rPr lang="ko-KR" altLang="en-US" sz="1000" dirty="0" smtClean="0"/>
                  <a:t> 계산할 수 있다</a:t>
                </a:r>
                <a:r>
                  <a:rPr lang="en-US" altLang="ko-KR" sz="1000" dirty="0" smtClean="0"/>
                  <a:t>.</a:t>
                </a:r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00" dirty="0" smtClean="0"/>
                  <a:t>이번에는 앞 슬라이드에서 봤던 </a:t>
                </a:r>
                <a:r>
                  <a:rPr lang="ko-KR" altLang="en-US" sz="1000" dirty="0" err="1" smtClean="0"/>
                  <a:t>출력값인</a:t>
                </a:r>
                <a:r>
                  <a:rPr lang="ko-KR" altLang="en-US" sz="1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0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000" dirty="0" smtClean="0"/>
                  <a:t>가 다시 </a:t>
                </a:r>
                <a:r>
                  <a:rPr lang="ko-KR" altLang="en-US" sz="1000" dirty="0" err="1" smtClean="0"/>
                  <a:t>입력값으로</a:t>
                </a:r>
                <a:r>
                  <a:rPr lang="ko-KR" altLang="en-US" sz="1000" dirty="0" smtClean="0"/>
                  <a:t> 사용된다</a:t>
                </a:r>
                <a:r>
                  <a:rPr lang="en-US" altLang="ko-KR" sz="1000" dirty="0" smtClean="0"/>
                  <a:t>.</a:t>
                </a:r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0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000" dirty="0" smtClean="0"/>
                  <a:t>는 가중합</a:t>
                </a:r>
                <a:r>
                  <a:rPr lang="en-US" altLang="ko-KR" sz="1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0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ko-KR" altLang="en-US" sz="1000" i="1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 sz="1000" dirty="0"/>
                  <a:t> </a:t>
                </a:r>
                <a:r>
                  <a:rPr lang="ko-KR" altLang="en-US" sz="1000" dirty="0" smtClean="0"/>
                  <a:t>가중합인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0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000" dirty="0" smtClean="0"/>
                  <a:t>를 </a:t>
                </a:r>
                <a:r>
                  <a:rPr lang="ko-KR" altLang="en-US" sz="1000" dirty="0" err="1" smtClean="0"/>
                  <a:t>시그모이드</a:t>
                </a:r>
                <a:r>
                  <a:rPr lang="ko-KR" altLang="en-US" sz="1000" dirty="0" smtClean="0"/>
                  <a:t> 함수에 통과시킨 </a:t>
                </a:r>
                <a:r>
                  <a:rPr lang="ko-KR" altLang="en-US" sz="1000" dirty="0" err="1" smtClean="0"/>
                  <a:t>출력값이며</a:t>
                </a:r>
                <a:r>
                  <a:rPr lang="ko-KR" altLang="en-US" sz="1000" dirty="0"/>
                  <a:t> </a:t>
                </a:r>
                <a:r>
                  <a:rPr lang="ko-KR" altLang="en-US" sz="1000" dirty="0" smtClean="0"/>
                  <a:t>해당 신경망에서는 이 값이 </a:t>
                </a:r>
                <a:r>
                  <a:rPr lang="ko-KR" altLang="en-US" sz="1000" dirty="0" err="1" smtClean="0"/>
                  <a:t>예측값으로</a:t>
                </a:r>
                <a:r>
                  <a:rPr lang="ko-KR" altLang="en-US" sz="1000" dirty="0" smtClean="0"/>
                  <a:t> 사용된다</a:t>
                </a:r>
                <a:r>
                  <a:rPr lang="en-US" altLang="ko-KR" sz="1000" dirty="0" smtClean="0"/>
                  <a:t>. </a:t>
                </a:r>
                <a:r>
                  <a:rPr lang="ko-KR" altLang="en-US" sz="1000" dirty="0" smtClean="0"/>
                  <a:t>이를 </a:t>
                </a:r>
                <a:r>
                  <a:rPr lang="ko-KR" altLang="en-US" sz="1000" dirty="0"/>
                  <a:t>행렬 형태로 나타낸 후 계산한 결과는 다음과 같다</a:t>
                </a:r>
                <a:r>
                  <a:rPr lang="en-US" altLang="ko-KR" sz="1000" dirty="0"/>
                  <a:t>.</a:t>
                </a:r>
                <a:r>
                  <a:rPr lang="en-US" altLang="ko-KR" sz="700" dirty="0"/>
                  <a:t>(</a:t>
                </a:r>
                <a:r>
                  <a:rPr lang="ko-KR" altLang="en-US" sz="700" dirty="0"/>
                  <a:t>오른쪽</a:t>
                </a:r>
                <a:r>
                  <a:rPr lang="en-US" altLang="ko-KR" sz="700" dirty="0"/>
                  <a:t>)</a:t>
                </a:r>
                <a:endParaRPr lang="en-US" altLang="ko-KR" sz="700" dirty="0" smtClean="0"/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00" dirty="0" smtClean="0"/>
                  <a:t>가</a:t>
                </a:r>
                <a14:m>
                  <m:oMath xmlns:m="http://schemas.openxmlformats.org/officeDocument/2006/math">
                    <m:r>
                      <a:rPr lang="ko-KR" altLang="en-US" sz="1000" i="1">
                        <a:latin typeface="Cambria Math" panose="02040503050406030204" pitchFamily="18" charset="0"/>
                      </a:rPr>
                      <m:t>중</m:t>
                    </m:r>
                    <m:r>
                      <a:rPr lang="ko-KR" altLang="en-US" sz="1000" i="1" smtClean="0">
                        <a:latin typeface="Cambria Math" panose="02040503050406030204" pitchFamily="18" charset="0"/>
                      </a:rPr>
                      <m:t>합</m:t>
                    </m:r>
                    <m:r>
                      <a:rPr lang="ko-KR" altLang="en-US" sz="1000" i="1">
                        <a:latin typeface="Cambria Math" panose="02040503050406030204" pitchFamily="18" charset="0"/>
                      </a:rPr>
                      <m:t>은</m:t>
                    </m:r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=1.823, </m:t>
                    </m:r>
                    <m:r>
                      <a:rPr lang="en-US" altLang="ko-KR" sz="10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=1.146, </m:t>
                    </m:r>
                    <m:r>
                      <a:rPr lang="ko-KR" altLang="en-US" sz="1000" i="1" dirty="0">
                        <a:latin typeface="Cambria Math" panose="02040503050406030204" pitchFamily="18" charset="0"/>
                      </a:rPr>
                      <m:t>예</m:t>
                    </m:r>
                    <m:r>
                      <a:rPr lang="ko-KR" altLang="en-US" sz="1000" i="1" dirty="0" smtClean="0">
                        <a:latin typeface="Cambria Math" panose="02040503050406030204" pitchFamily="18" charset="0"/>
                      </a:rPr>
                      <m:t>측</m:t>
                    </m:r>
                    <m:r>
                      <a:rPr lang="ko-KR" altLang="en-US" sz="1000" i="1" dirty="0">
                        <a:latin typeface="Cambria Math" panose="02040503050406030204" pitchFamily="18" charset="0"/>
                      </a:rPr>
                      <m:t>값</m:t>
                    </m:r>
                    <m:r>
                      <a:rPr lang="ko-KR" altLang="en-US" sz="1000" i="1" dirty="0" smtClean="0">
                        <a:latin typeface="Cambria Math" panose="02040503050406030204" pitchFamily="18" charset="0"/>
                      </a:rPr>
                      <m:t>은</m:t>
                    </m:r>
                    <m:r>
                      <a:rPr lang="en-US" altLang="ko-KR" sz="1000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=0.860, </m:t>
                    </m:r>
                    <m:sSub>
                      <m:sSubPr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=0.758</m:t>
                    </m:r>
                  </m:oMath>
                </a14:m>
                <a:r>
                  <a:rPr lang="ko-KR" altLang="en-US" sz="1000" dirty="0" smtClean="0"/>
                  <a:t>의 값을 얻었다</a:t>
                </a:r>
                <a:r>
                  <a:rPr lang="en-US" altLang="ko-KR" sz="1000" dirty="0" smtClean="0"/>
                  <a:t>.</a:t>
                </a:r>
                <a:endParaRPr lang="en-US" altLang="ko-KR" sz="1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1019126"/>
                <a:ext cx="6705600" cy="1097160"/>
              </a:xfrm>
              <a:prstGeom prst="rect">
                <a:avLst/>
              </a:prstGeom>
              <a:blipFill>
                <a:blip r:embed="rId5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457200" y="376453"/>
            <a:ext cx="8229600" cy="442697"/>
          </a:xfrm>
        </p:spPr>
        <p:txBody>
          <a:bodyPr/>
          <a:lstStyle/>
          <a:p>
            <a:r>
              <a:rPr lang="en-US" altLang="ko-KR" sz="2000" dirty="0" smtClean="0"/>
              <a:t>Error Back Propagation</a:t>
            </a:r>
            <a:br>
              <a:rPr lang="en-US" altLang="ko-KR" sz="2000" dirty="0" smtClean="0"/>
            </a:br>
            <a:r>
              <a:rPr lang="en-US" altLang="ko-KR" sz="900" dirty="0" smtClean="0"/>
              <a:t>2. </a:t>
            </a:r>
            <a:r>
              <a:rPr lang="ko-KR" altLang="en-US" sz="900" dirty="0" err="1" smtClean="0"/>
              <a:t>순전파</a:t>
            </a:r>
            <a:r>
              <a:rPr lang="en-US" altLang="ko-KR" sz="900" dirty="0" smtClean="0"/>
              <a:t>(Forward Propagation)</a:t>
            </a:r>
            <a:r>
              <a:rPr lang="ko-KR" altLang="en-US" sz="900" dirty="0" smtClean="0"/>
              <a:t>을 통한 </a:t>
            </a:r>
            <a:r>
              <a:rPr lang="ko-KR" altLang="en-US" sz="900" dirty="0" err="1" smtClean="0"/>
              <a:t>출력값</a:t>
            </a:r>
            <a:r>
              <a:rPr lang="ko-KR" altLang="en-US" sz="900" dirty="0" smtClean="0"/>
              <a:t> 계산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61053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219200" y="1123950"/>
                <a:ext cx="670560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900" dirty="0" smtClean="0"/>
                  <a:t>Cost </a:t>
                </a:r>
                <a:r>
                  <a:rPr lang="en-US" altLang="ko-KR" sz="900" dirty="0"/>
                  <a:t>Function</a:t>
                </a:r>
                <a:r>
                  <a:rPr lang="ko-KR" altLang="en-US" sz="900" dirty="0"/>
                  <a:t>이란 </a:t>
                </a:r>
                <a:r>
                  <a:rPr lang="ko-KR" altLang="en-US" sz="900" dirty="0" err="1"/>
                  <a:t>실제값과</a:t>
                </a:r>
                <a:r>
                  <a:rPr lang="ko-KR" altLang="en-US" sz="900" dirty="0"/>
                  <a:t> </a:t>
                </a:r>
                <a:r>
                  <a:rPr lang="ko-KR" altLang="en-US" sz="900" dirty="0" err="1"/>
                  <a:t>예측값의</a:t>
                </a:r>
                <a:r>
                  <a:rPr lang="ko-KR" altLang="en-US" sz="900" dirty="0"/>
                  <a:t> 차이의 제곱으로 설명할 수 있으며 </a:t>
                </a:r>
                <a:r>
                  <a:rPr lang="ko-KR" altLang="en-US" sz="900" dirty="0" err="1"/>
                  <a:t>실제값과</a:t>
                </a:r>
                <a:r>
                  <a:rPr lang="ko-KR" altLang="en-US" sz="900" dirty="0"/>
                  <a:t> </a:t>
                </a:r>
                <a:r>
                  <a:rPr lang="ko-KR" altLang="en-US" sz="900" dirty="0" err="1"/>
                  <a:t>예측값이</a:t>
                </a:r>
                <a:r>
                  <a:rPr lang="ko-KR" altLang="en-US" sz="900" dirty="0"/>
                  <a:t> 완전히 같을 경우 </a:t>
                </a:r>
                <a:r>
                  <a:rPr lang="en-US" altLang="ko-KR" sz="900" dirty="0"/>
                  <a:t>Cost Function</a:t>
                </a:r>
                <a:r>
                  <a:rPr lang="ko-KR" altLang="en-US" sz="900" dirty="0"/>
                  <a:t>은 </a:t>
                </a:r>
                <a:r>
                  <a:rPr lang="en-US" altLang="ko-KR" sz="900" dirty="0"/>
                  <a:t>0</a:t>
                </a:r>
                <a:r>
                  <a:rPr lang="ko-KR" altLang="en-US" sz="900" dirty="0"/>
                  <a:t>이 된다</a:t>
                </a:r>
                <a:r>
                  <a:rPr lang="en-US" altLang="ko-KR" sz="900" dirty="0"/>
                  <a:t>.</a:t>
                </a:r>
                <a:endParaRPr lang="en-US" altLang="ko-KR" sz="900" dirty="0" smtClean="0"/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900" dirty="0" smtClean="0"/>
                  <a:t>Cost Function</a:t>
                </a:r>
                <a:r>
                  <a:rPr lang="ko-KR" altLang="en-US" sz="900" dirty="0" smtClean="0"/>
                  <a:t>은 상황에 따라 여러가지가 있을 수 있지만 여기서는 오차 </a:t>
                </a:r>
                <a:r>
                  <a:rPr lang="ko-KR" altLang="en-US" sz="900" dirty="0" err="1" smtClean="0"/>
                  <a:t>제곱합을</a:t>
                </a:r>
                <a:r>
                  <a:rPr lang="ko-KR" altLang="en-US" sz="900" dirty="0" smtClean="0"/>
                  <a:t> 사용한다</a:t>
                </a:r>
                <a:r>
                  <a:rPr lang="en-US" altLang="ko-KR" sz="900" dirty="0" smtClean="0"/>
                  <a:t>.</a:t>
                </a:r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900" dirty="0" smtClean="0"/>
                  <a:t>Cost Function</a:t>
                </a:r>
                <a:r>
                  <a:rPr lang="ko-KR" altLang="en-US" sz="900" dirty="0" smtClean="0"/>
                  <a:t>에서 </a:t>
                </a:r>
                <a:r>
                  <a:rPr lang="en-US" altLang="ko-KR" sz="900" dirty="0" smtClean="0"/>
                  <a:t>½</a:t>
                </a:r>
                <a:r>
                  <a:rPr lang="ko-KR" altLang="en-US" sz="900" dirty="0" smtClean="0"/>
                  <a:t>를 곱하는 이유는 계산의 편의를 위함이다</a:t>
                </a:r>
                <a:r>
                  <a:rPr lang="en-US" altLang="ko-KR" sz="900" dirty="0" smtClean="0"/>
                  <a:t>.</a:t>
                </a:r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9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900" dirty="0" smtClean="0"/>
                  <a:t>는 </a:t>
                </a:r>
                <a:r>
                  <a:rPr lang="ko-KR" altLang="en-US" sz="900" dirty="0" err="1" smtClean="0"/>
                  <a:t>실제값을</a:t>
                </a:r>
                <a:r>
                  <a:rPr lang="ko-KR" altLang="en-US" sz="900" dirty="0" smtClean="0"/>
                  <a:t> 의미하고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9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9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9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ko-KR" altLang="en-US" sz="900" i="1" smtClean="0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 sz="900" dirty="0" smtClean="0"/>
                  <a:t> </a:t>
                </a:r>
                <a:r>
                  <a:rPr lang="ko-KR" altLang="en-US" sz="900" dirty="0" err="1" smtClean="0"/>
                  <a:t>예측값을</a:t>
                </a:r>
                <a:r>
                  <a:rPr lang="ko-KR" altLang="en-US" sz="900" dirty="0" smtClean="0"/>
                  <a:t> 의미한다</a:t>
                </a:r>
                <a:r>
                  <a:rPr lang="en-US" altLang="ko-KR" sz="900" dirty="0" smtClean="0"/>
                  <a:t>.</a:t>
                </a:r>
                <a:endParaRPr lang="en-US" altLang="ko-KR" sz="9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1123950"/>
                <a:ext cx="6705600" cy="1015663"/>
              </a:xfrm>
              <a:prstGeom prst="rect">
                <a:avLst/>
              </a:prstGeom>
              <a:blipFill>
                <a:blip r:embed="rId2"/>
                <a:stretch>
                  <a:fillRect b="-17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2724150"/>
            <a:ext cx="1872336" cy="12575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143000" y="4019550"/>
                <a:ext cx="6610356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ko-KR" altLang="en-US" sz="800" dirty="0" smtClean="0"/>
                  <a:t>오차제곱합으로 정의한 </a:t>
                </a:r>
                <a:r>
                  <a:rPr lang="en-US" altLang="ko-KR" sz="800" dirty="0" smtClean="0"/>
                  <a:t>Cost Function </a:t>
                </a:r>
                <a14:m>
                  <m:oMath xmlns:m="http://schemas.openxmlformats.org/officeDocument/2006/math">
                    <m:r>
                      <a:rPr lang="en-US" altLang="ko-KR" sz="8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ko-KR" altLang="en-US" sz="800" dirty="0" smtClean="0"/>
                  <a:t>와 </a:t>
                </a:r>
                <a:r>
                  <a:rPr lang="ko-KR" altLang="en-US" sz="800" dirty="0" err="1" smtClean="0"/>
                  <a:t>예측값이</a:t>
                </a:r>
                <a:r>
                  <a:rPr lang="ko-KR" altLang="en-US" sz="800" dirty="0" smtClean="0"/>
                  <a:t> </a:t>
                </a:r>
                <a:r>
                  <a:rPr lang="en-US" altLang="ko-KR" sz="800" dirty="0" smtClean="0"/>
                  <a:t>Cost Function</a:t>
                </a:r>
                <a:r>
                  <a:rPr lang="ko-KR" altLang="en-US" sz="800" dirty="0" smtClean="0"/>
                  <a:t>에 미치는 기울기를 구한 </a:t>
                </a:r>
                <a:r>
                  <a:rPr lang="en-US" altLang="ko-KR" sz="800" dirty="0" smtClean="0"/>
                  <a:t>1</a:t>
                </a:r>
                <a:r>
                  <a:rPr lang="ko-KR" altLang="en-US" sz="800" dirty="0" smtClean="0"/>
                  <a:t>차 </a:t>
                </a:r>
                <a:r>
                  <a:rPr lang="ko-KR" altLang="en-US" sz="800" dirty="0" err="1" smtClean="0"/>
                  <a:t>미분식</a:t>
                </a:r>
                <a:endParaRPr lang="en-US" altLang="ko-KR" sz="800" dirty="0" smtClean="0"/>
              </a:p>
              <a:p>
                <a:pPr algn="ctr">
                  <a:spcAft>
                    <a:spcPts val="600"/>
                  </a:spcAft>
                </a:pPr>
                <a:r>
                  <a:rPr lang="ko-KR" altLang="en-US" sz="700" dirty="0" smtClean="0"/>
                  <a:t>두 </a:t>
                </a:r>
                <a:r>
                  <a:rPr lang="ko-KR" altLang="en-US" sz="700" dirty="0" err="1" smtClean="0"/>
                  <a:t>예측값이</a:t>
                </a:r>
                <a:r>
                  <a:rPr lang="ko-KR" altLang="en-US" sz="700" dirty="0" smtClean="0"/>
                  <a:t> </a:t>
                </a:r>
                <a:r>
                  <a:rPr lang="en-US" altLang="ko-KR" sz="700" dirty="0" smtClean="0"/>
                  <a:t>Cost Function(</a:t>
                </a:r>
                <a:r>
                  <a:rPr lang="ko-KR" altLang="en-US" sz="700" dirty="0" err="1" smtClean="0"/>
                  <a:t>예측값과</a:t>
                </a:r>
                <a:r>
                  <a:rPr lang="ko-KR" altLang="en-US" sz="700" dirty="0" smtClean="0"/>
                  <a:t> </a:t>
                </a:r>
                <a:r>
                  <a:rPr lang="ko-KR" altLang="en-US" sz="700" dirty="0" err="1" smtClean="0"/>
                  <a:t>실제값의</a:t>
                </a:r>
                <a:r>
                  <a:rPr lang="ko-KR" altLang="en-US" sz="700" dirty="0" smtClean="0"/>
                  <a:t> 차이에 대한 </a:t>
                </a:r>
                <a:r>
                  <a:rPr lang="ko-KR" altLang="en-US" sz="700" dirty="0" err="1" smtClean="0"/>
                  <a:t>오차제곱합</a:t>
                </a:r>
                <a:r>
                  <a:rPr lang="en-US" altLang="ko-KR" sz="700" dirty="0" smtClean="0"/>
                  <a:t>)</a:t>
                </a:r>
                <a:r>
                  <a:rPr lang="ko-KR" altLang="en-US" sz="700" dirty="0" smtClean="0"/>
                  <a:t>에 어떠한 영향을 미치는지를 나타냄</a:t>
                </a:r>
                <a:endParaRPr lang="en-US" altLang="ko-KR" sz="8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4019550"/>
                <a:ext cx="6610356" cy="4154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457200" y="376453"/>
            <a:ext cx="8229600" cy="442697"/>
          </a:xfrm>
        </p:spPr>
        <p:txBody>
          <a:bodyPr/>
          <a:lstStyle/>
          <a:p>
            <a:r>
              <a:rPr lang="en-US" altLang="ko-KR" sz="2000" dirty="0" smtClean="0"/>
              <a:t>Error Back Propagation</a:t>
            </a:r>
            <a:br>
              <a:rPr lang="en-US" altLang="ko-KR" sz="2000" dirty="0" smtClean="0"/>
            </a:br>
            <a:r>
              <a:rPr lang="en-US" altLang="ko-KR" sz="900" dirty="0" smtClean="0"/>
              <a:t>3. </a:t>
            </a:r>
            <a:r>
              <a:rPr lang="en-US" altLang="ko-KR" sz="900" dirty="0"/>
              <a:t>Cost Function(</a:t>
            </a:r>
            <a:r>
              <a:rPr lang="ko-KR" altLang="en-US" sz="900" dirty="0"/>
              <a:t>비용 함수</a:t>
            </a:r>
            <a:r>
              <a:rPr lang="en-US" altLang="ko-KR" sz="900" dirty="0"/>
              <a:t>)</a:t>
            </a:r>
            <a:r>
              <a:rPr lang="ko-KR" altLang="en-US" sz="900" dirty="0"/>
              <a:t>정의 및 </a:t>
            </a:r>
            <a:r>
              <a:rPr lang="en-US" altLang="ko-KR" sz="900" dirty="0"/>
              <a:t>1</a:t>
            </a:r>
            <a:r>
              <a:rPr lang="ko-KR" altLang="en-US" sz="900" dirty="0"/>
              <a:t>차 </a:t>
            </a:r>
            <a:r>
              <a:rPr lang="ko-KR" altLang="en-US" sz="900" dirty="0" err="1"/>
              <a:t>미분식</a:t>
            </a:r>
            <a:r>
              <a:rPr lang="ko-KR" altLang="en-US" sz="900" dirty="0"/>
              <a:t> 구하기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100830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38200" y="1123950"/>
                <a:ext cx="3657600" cy="3254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00" dirty="0" smtClean="0"/>
                  <a:t>마찬가지로 활성화 함수에 대한 </a:t>
                </a:r>
                <a:r>
                  <a:rPr lang="ko-KR" altLang="en-US" sz="1000" dirty="0" err="1" smtClean="0"/>
                  <a:t>미분값도</a:t>
                </a:r>
                <a:r>
                  <a:rPr lang="ko-KR" altLang="en-US" sz="1000" dirty="0" smtClean="0"/>
                  <a:t> 구할 수 있다</a:t>
                </a:r>
                <a:r>
                  <a:rPr lang="en-US" altLang="ko-KR" sz="1000" dirty="0" smtClean="0"/>
                  <a:t>.</a:t>
                </a:r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ko-KR" sz="1000" dirty="0" smtClean="0"/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00" dirty="0" smtClean="0"/>
                  <a:t>현재 신경망에서는 활성화 함수로 </a:t>
                </a:r>
                <a:r>
                  <a:rPr lang="ko-KR" altLang="en-US" sz="1000" dirty="0" err="1" smtClean="0"/>
                  <a:t>시그모이드</a:t>
                </a:r>
                <a:r>
                  <a:rPr lang="ko-KR" altLang="en-US" sz="1000" dirty="0" smtClean="0"/>
                  <a:t> 함수를 사용하므로 </a:t>
                </a:r>
                <a:r>
                  <a:rPr lang="ko-KR" altLang="en-US" sz="1000" dirty="0" err="1" smtClean="0"/>
                  <a:t>시그모이드</a:t>
                </a:r>
                <a:r>
                  <a:rPr lang="ko-KR" altLang="en-US" sz="1000" dirty="0" smtClean="0"/>
                  <a:t> 함수를 미분한다</a:t>
                </a:r>
                <a:r>
                  <a:rPr lang="en-US" altLang="ko-KR" sz="1000" dirty="0" smtClean="0"/>
                  <a:t>.</a:t>
                </a:r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ko-KR" sz="1000" dirty="0" smtClean="0"/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00" dirty="0" err="1" smtClean="0"/>
                  <a:t>시그모이드</a:t>
                </a:r>
                <a:r>
                  <a:rPr lang="ko-KR" altLang="en-US" sz="1000" dirty="0" smtClean="0"/>
                  <a:t> 함수는 다음과 같다</a:t>
                </a:r>
                <a:r>
                  <a:rPr lang="en-US" altLang="ko-KR" sz="1000" dirty="0" smtClean="0"/>
                  <a:t>.</a:t>
                </a: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altLang="ko-KR" sz="10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⁡(−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ko-KR" sz="1000" b="0" dirty="0" smtClean="0"/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ko-KR" sz="1000" dirty="0"/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00" dirty="0" smtClean="0"/>
                  <a:t>우리가 얻고자 하는 </a:t>
                </a:r>
                <a:r>
                  <a:rPr lang="ko-KR" altLang="en-US" sz="1000" dirty="0" err="1" smtClean="0"/>
                  <a:t>시그모이드</a:t>
                </a:r>
                <a:r>
                  <a:rPr lang="ko-KR" altLang="en-US" sz="1000" dirty="0" smtClean="0"/>
                  <a:t> 함수의 </a:t>
                </a:r>
                <a:r>
                  <a:rPr lang="ko-KR" altLang="en-US" sz="1000" dirty="0" err="1" smtClean="0"/>
                  <a:t>미분식은</a:t>
                </a:r>
                <a:r>
                  <a:rPr lang="ko-KR" altLang="en-US" sz="1000" dirty="0" smtClean="0"/>
                  <a:t> 아래와 같다</a:t>
                </a:r>
                <a:r>
                  <a:rPr lang="en-US" altLang="ko-KR" sz="1000" dirty="0" smtClean="0"/>
                  <a:t>.</a:t>
                </a:r>
              </a:p>
              <a:p>
                <a:pPr algn="ctr">
                  <a:spcAft>
                    <a:spcPts val="600"/>
                  </a:spcAft>
                </a:pPr>
                <a:r>
                  <a:rPr lang="ko-KR" altLang="en-US" sz="1000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 sz="1000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altLang="ko-KR" sz="1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altLang="ko-KR" sz="1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n-US" altLang="ko-KR" sz="1000" b="0" i="1" dirty="0" smtClean="0">
                  <a:latin typeface="Cambria Math" panose="02040503050406030204" pitchFamily="18" charset="0"/>
                </a:endParaRPr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ko-KR" sz="1000" dirty="0" smtClean="0"/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00" dirty="0" smtClean="0"/>
                  <a:t>이렇게 비용 함수와 활성화 함수의 </a:t>
                </a:r>
                <a:r>
                  <a:rPr lang="ko-KR" altLang="en-US" sz="1000" dirty="0" err="1" smtClean="0"/>
                  <a:t>미분값을</a:t>
                </a:r>
                <a:r>
                  <a:rPr lang="ko-KR" altLang="en-US" sz="1000" dirty="0" smtClean="0"/>
                  <a:t> 구한 이유는 </a:t>
                </a:r>
                <a:r>
                  <a:rPr lang="en-US" altLang="ko-KR" sz="1000" dirty="0" smtClean="0"/>
                  <a:t>Back Propagation</a:t>
                </a:r>
                <a:r>
                  <a:rPr lang="ko-KR" altLang="en-US" sz="1000" dirty="0" smtClean="0"/>
                  <a:t>을 적용하기 위해서이다</a:t>
                </a:r>
                <a:r>
                  <a:rPr lang="en-US" altLang="ko-KR" sz="1000" dirty="0" smtClean="0"/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123950"/>
                <a:ext cx="3657600" cy="32542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1141161"/>
            <a:ext cx="2819400" cy="35033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62700" y="923895"/>
            <a:ext cx="15240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b="1" dirty="0" err="1" smtClean="0"/>
              <a:t>시그모이드</a:t>
            </a:r>
            <a:r>
              <a:rPr lang="ko-KR" altLang="en-US" sz="700" b="1" dirty="0" smtClean="0"/>
              <a:t> 함수 </a:t>
            </a:r>
            <a:r>
              <a:rPr lang="ko-KR" altLang="en-US" sz="700" b="1" dirty="0" err="1" smtClean="0"/>
              <a:t>미분계산</a:t>
            </a:r>
            <a:r>
              <a:rPr lang="ko-KR" altLang="en-US" sz="700" b="1" dirty="0" smtClean="0"/>
              <a:t> 과정</a:t>
            </a:r>
            <a:endParaRPr lang="ko-KR" altLang="en-US" sz="700" b="1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457200" y="376453"/>
            <a:ext cx="8229600" cy="442697"/>
          </a:xfrm>
        </p:spPr>
        <p:txBody>
          <a:bodyPr/>
          <a:lstStyle/>
          <a:p>
            <a:r>
              <a:rPr lang="en-US" altLang="ko-KR" sz="2000" dirty="0" smtClean="0"/>
              <a:t>Error Back Propagation</a:t>
            </a:r>
            <a:br>
              <a:rPr lang="en-US" altLang="ko-KR" sz="2000" dirty="0" smtClean="0"/>
            </a:br>
            <a:r>
              <a:rPr lang="en-US" altLang="ko-KR" sz="900" dirty="0" smtClean="0"/>
              <a:t>3. </a:t>
            </a:r>
            <a:r>
              <a:rPr lang="en-US" altLang="ko-KR" sz="900" dirty="0"/>
              <a:t>Cost Function(</a:t>
            </a:r>
            <a:r>
              <a:rPr lang="ko-KR" altLang="en-US" sz="900" dirty="0"/>
              <a:t>비용 함수</a:t>
            </a:r>
            <a:r>
              <a:rPr lang="en-US" altLang="ko-KR" sz="900" dirty="0"/>
              <a:t>)</a:t>
            </a:r>
            <a:r>
              <a:rPr lang="ko-KR" altLang="en-US" sz="900" dirty="0"/>
              <a:t>정의 및 </a:t>
            </a:r>
            <a:r>
              <a:rPr lang="en-US" altLang="ko-KR" sz="900" dirty="0"/>
              <a:t>1</a:t>
            </a:r>
            <a:r>
              <a:rPr lang="ko-KR" altLang="en-US" sz="900" dirty="0"/>
              <a:t>차 </a:t>
            </a:r>
            <a:r>
              <a:rPr lang="ko-KR" altLang="en-US" sz="900" dirty="0" err="1"/>
              <a:t>미분식</a:t>
            </a:r>
            <a:r>
              <a:rPr lang="ko-KR" altLang="en-US" sz="900" dirty="0"/>
              <a:t> 구하기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387645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5702300" y="2038350"/>
            <a:ext cx="2209800" cy="2780085"/>
            <a:chOff x="1254108" y="1710294"/>
            <a:chExt cx="2035586" cy="2662005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47800" y="1710294"/>
              <a:ext cx="1676400" cy="1500354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4108" y="3181350"/>
              <a:ext cx="2035586" cy="119094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143000" y="1123950"/>
                <a:ext cx="6781800" cy="7107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00" dirty="0" smtClean="0"/>
                  <a:t>출력층에서 </a:t>
                </a:r>
                <a:r>
                  <a:rPr lang="ko-KR" altLang="en-US" sz="1000" dirty="0" err="1" smtClean="0"/>
                  <a:t>은닉층으로</a:t>
                </a:r>
                <a:r>
                  <a:rPr lang="ko-KR" altLang="en-US" sz="1000" dirty="0" smtClean="0"/>
                  <a:t> </a:t>
                </a:r>
                <a:r>
                  <a:rPr lang="en-US" altLang="ko-KR" sz="1000" dirty="0" smtClean="0"/>
                  <a:t>Back Propagation</a:t>
                </a:r>
                <a:r>
                  <a:rPr lang="ko-KR" altLang="en-US" sz="1000" dirty="0" smtClean="0"/>
                  <a:t>을 적용하는 과정을 구해보자</a:t>
                </a:r>
                <a:r>
                  <a:rPr lang="en-US" altLang="ko-KR" sz="1000" dirty="0" smtClean="0"/>
                  <a:t>.</a:t>
                </a:r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00" dirty="0" smtClean="0"/>
                  <a:t>이를 수식으로 나타내면 다음과 같다</a:t>
                </a:r>
                <a:r>
                  <a:rPr lang="en-US" altLang="ko-KR" sz="1000" dirty="0" smtClean="0"/>
                  <a:t>.</a:t>
                </a:r>
                <a:r>
                  <a:rPr lang="en-US" altLang="ko-KR" sz="800" dirty="0" smtClean="0"/>
                  <a:t>(</a:t>
                </a:r>
                <a:r>
                  <a:rPr lang="ko-KR" altLang="en-US" sz="800" dirty="0" smtClean="0"/>
                  <a:t>오른쪽</a:t>
                </a:r>
                <a:r>
                  <a:rPr lang="en-US" altLang="ko-KR" sz="800" dirty="0" smtClean="0"/>
                  <a:t>)</a:t>
                </a:r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00" dirty="0" smtClean="0"/>
                  <a:t>조금 더 쉬운 이해를 위해 </a:t>
                </a:r>
                <a:r>
                  <a:rPr lang="ko-KR" altLang="en-US" sz="1000" dirty="0" err="1" smtClean="0"/>
                  <a:t>파라미터</a:t>
                </a:r>
                <a:r>
                  <a:rPr lang="ko-KR" altLang="en-US" sz="1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41</m:t>
                        </m:r>
                      </m:sub>
                    </m:sSub>
                    <m:r>
                      <a:rPr lang="ko-KR" altLang="en-US" sz="1000" i="1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en-US" altLang="ko-KR" sz="1000" dirty="0" smtClean="0"/>
                  <a:t> </a:t>
                </a:r>
                <a:r>
                  <a:rPr lang="ko-KR" altLang="en-US" sz="1000" dirty="0" err="1" smtClean="0"/>
                  <a:t>손실함수에</a:t>
                </a:r>
                <a:r>
                  <a:rPr lang="ko-KR" altLang="en-US" sz="1000" dirty="0" smtClean="0"/>
                  <a:t> 어떠한 영향을 미치는지를 다음 슬라이드에서 계산해보자</a:t>
                </a:r>
                <a:r>
                  <a:rPr lang="en-US" altLang="ko-KR" sz="1000" dirty="0" smtClean="0"/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1123950"/>
                <a:ext cx="6781800" cy="710772"/>
              </a:xfrm>
              <a:prstGeom prst="rect">
                <a:avLst/>
              </a:prstGeom>
              <a:blipFill>
                <a:blip r:embed="rId4"/>
                <a:stretch>
                  <a:fillRect b="-34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그룹 10"/>
          <p:cNvGrpSpPr/>
          <p:nvPr/>
        </p:nvGrpSpPr>
        <p:grpSpPr>
          <a:xfrm>
            <a:off x="1295400" y="2038350"/>
            <a:ext cx="3972127" cy="2505991"/>
            <a:chOff x="1524000" y="2032000"/>
            <a:chExt cx="3972127" cy="2505991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24000" y="2032000"/>
              <a:ext cx="3972127" cy="2505991"/>
            </a:xfrm>
            <a:prstGeom prst="rect">
              <a:avLst/>
            </a:prstGeom>
          </p:spPr>
        </p:pic>
        <p:sp>
          <p:nvSpPr>
            <p:cNvPr id="9" name="오른쪽 화살표 8"/>
            <p:cNvSpPr/>
            <p:nvPr/>
          </p:nvSpPr>
          <p:spPr>
            <a:xfrm rot="5400000">
              <a:off x="3588221" y="2863379"/>
              <a:ext cx="184477" cy="45719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457200" y="376453"/>
            <a:ext cx="8229600" cy="442697"/>
          </a:xfrm>
        </p:spPr>
        <p:txBody>
          <a:bodyPr/>
          <a:lstStyle/>
          <a:p>
            <a:r>
              <a:rPr lang="en-US" altLang="ko-KR" sz="2000" dirty="0" smtClean="0"/>
              <a:t>Error Back Propagation</a:t>
            </a:r>
            <a:br>
              <a:rPr lang="en-US" altLang="ko-KR" sz="2000" dirty="0" smtClean="0"/>
            </a:br>
            <a:r>
              <a:rPr lang="en-US" altLang="ko-KR" sz="900" dirty="0"/>
              <a:t>4</a:t>
            </a:r>
            <a:r>
              <a:rPr lang="en-US" altLang="ko-KR" sz="900" dirty="0" smtClean="0"/>
              <a:t>. </a:t>
            </a:r>
            <a:r>
              <a:rPr lang="en-US" altLang="ko-KR" sz="900" dirty="0"/>
              <a:t>Back Propagation(</a:t>
            </a:r>
            <a:r>
              <a:rPr lang="ko-KR" altLang="en-US" sz="900" dirty="0" err="1"/>
              <a:t>역전파</a:t>
            </a:r>
            <a:r>
              <a:rPr lang="en-US" altLang="ko-KR" sz="900" dirty="0"/>
              <a:t>)</a:t>
            </a:r>
            <a:r>
              <a:rPr lang="ko-KR" altLang="en-US" sz="900" dirty="0"/>
              <a:t>를 통한 </a:t>
            </a:r>
            <a:r>
              <a:rPr lang="en-US" altLang="ko-KR" sz="900" dirty="0"/>
              <a:t>1</a:t>
            </a:r>
            <a:r>
              <a:rPr lang="ko-KR" altLang="en-US" sz="900" dirty="0"/>
              <a:t>차 </a:t>
            </a:r>
            <a:r>
              <a:rPr lang="ko-KR" altLang="en-US" sz="900" dirty="0" err="1"/>
              <a:t>미분값</a:t>
            </a:r>
            <a:r>
              <a:rPr lang="ko-KR" altLang="en-US" sz="900" dirty="0"/>
              <a:t> 구하기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886540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57200" y="895350"/>
                <a:ext cx="6705600" cy="37065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9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900" i="1">
                            <a:latin typeface="Cambria Math" panose="02040503050406030204" pitchFamily="18" charset="0"/>
                          </a:rPr>
                          <m:t>파라미터</m:t>
                        </m:r>
                        <m:r>
                          <a:rPr lang="en-US" altLang="ko-KR" sz="9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9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900" i="1">
                            <a:latin typeface="Cambria Math" panose="02040503050406030204" pitchFamily="18" charset="0"/>
                          </a:rPr>
                          <m:t>41</m:t>
                        </m:r>
                      </m:sub>
                    </m:sSub>
                  </m:oMath>
                </a14:m>
                <a:r>
                  <a:rPr lang="ko-KR" altLang="en-US" sz="900" dirty="0" smtClean="0"/>
                  <a:t>가 </a:t>
                </a:r>
                <a:r>
                  <a:rPr lang="en-US" altLang="ko-KR" sz="900" dirty="0" smtClean="0"/>
                  <a:t>Cost Function</a:t>
                </a:r>
                <a:r>
                  <a:rPr lang="ko-KR" altLang="en-US" sz="900" dirty="0" smtClean="0"/>
                  <a:t>인 </a:t>
                </a:r>
                <a14:m>
                  <m:oMath xmlns:m="http://schemas.openxmlformats.org/officeDocument/2006/math">
                    <m:r>
                      <a:rPr lang="en-US" altLang="ko-KR" sz="9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ko-KR" altLang="en-US" sz="900" dirty="0" smtClean="0"/>
                  <a:t>에 어떠한 변화를 주는지 알고 싶다면 우리는 아래와 같은 식처럼 나타낼 수 있다</a:t>
                </a:r>
                <a:r>
                  <a:rPr lang="en-US" altLang="ko-KR" sz="900" dirty="0" smtClean="0"/>
                  <a:t>.</a:t>
                </a:r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ko-KR" sz="900" dirty="0" smtClean="0"/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41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ko-KR" sz="900" dirty="0" smtClean="0"/>
              </a:p>
              <a:p>
                <a:pPr>
                  <a:spcAft>
                    <a:spcPts val="600"/>
                  </a:spcAft>
                </a:pPr>
                <a:endParaRPr lang="en-US" altLang="ko-KR" sz="900" dirty="0" smtClean="0"/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900" dirty="0" smtClean="0"/>
                  <a:t>그리고 이 식은 사실상 </a:t>
                </a:r>
                <a:r>
                  <a:rPr lang="ko-KR" altLang="en-US" sz="900" dirty="0" err="1" smtClean="0"/>
                  <a:t>합성함수</a:t>
                </a:r>
                <a:r>
                  <a:rPr lang="ko-KR" altLang="en-US" sz="9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9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9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9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9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ko-KR" sz="9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900" dirty="0" smtClean="0"/>
                  <a:t>를</a:t>
                </a:r>
                <a:r>
                  <a:rPr lang="en-US" altLang="ko-KR" sz="900" dirty="0" smtClean="0"/>
                  <a:t> </a:t>
                </a:r>
                <a:r>
                  <a:rPr lang="ko-KR" altLang="en-US" sz="900" dirty="0" err="1" smtClean="0"/>
                  <a:t>편미분</a:t>
                </a:r>
                <a:r>
                  <a:rPr lang="ko-KR" altLang="en-US" sz="900" dirty="0" smtClean="0"/>
                  <a:t> 하는 것과</a:t>
                </a:r>
                <a:r>
                  <a:rPr lang="en-US" altLang="ko-KR" sz="900" dirty="0" smtClean="0"/>
                  <a:t> </a:t>
                </a:r>
                <a:r>
                  <a:rPr lang="ko-KR" altLang="en-US" sz="900" dirty="0" smtClean="0"/>
                  <a:t>같다고 할 수 있다</a:t>
                </a:r>
                <a:r>
                  <a:rPr lang="en-US" altLang="ko-KR" sz="900" dirty="0" smtClean="0"/>
                  <a:t>.</a:t>
                </a:r>
              </a:p>
              <a:p>
                <a:pPr marL="628650" lvl="1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900" dirty="0" smtClean="0"/>
                  <a:t>은 </a:t>
                </a:r>
                <a:r>
                  <a:rPr lang="ko-KR" altLang="en-US" sz="900" dirty="0" err="1" smtClean="0"/>
                  <a:t>가중합</a:t>
                </a:r>
                <a:r>
                  <a:rPr lang="ko-KR" altLang="en-US" sz="900" dirty="0" smtClean="0"/>
                  <a:t> 함수이며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ko-KR" altLang="en-US" sz="900" i="1">
                        <a:latin typeface="Cambria Math" panose="02040503050406030204" pitchFamily="18" charset="0"/>
                      </a:rPr>
                      <m:t>을</m:t>
                    </m:r>
                  </m:oMath>
                </a14:m>
                <a:r>
                  <a:rPr lang="en-US" altLang="ko-KR" sz="900" dirty="0" smtClean="0"/>
                  <a:t> </a:t>
                </a:r>
                <a:r>
                  <a:rPr lang="ko-KR" altLang="en-US" sz="900" dirty="0" smtClean="0"/>
                  <a:t>계산하는 함수</a:t>
                </a:r>
                <a:endParaRPr lang="en-US" altLang="ko-KR" sz="900" dirty="0" smtClean="0"/>
              </a:p>
              <a:p>
                <a:pPr marL="628650" lvl="1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9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900" dirty="0" smtClean="0"/>
                  <a:t> </a:t>
                </a:r>
                <a:r>
                  <a:rPr lang="ko-KR" altLang="en-US" sz="900" dirty="0" smtClean="0"/>
                  <a:t>는 </a:t>
                </a:r>
                <a:r>
                  <a:rPr lang="ko-KR" altLang="en-US" sz="900" dirty="0" err="1" smtClean="0"/>
                  <a:t>시그모이드</a:t>
                </a:r>
                <a:r>
                  <a:rPr lang="ko-KR" altLang="en-US" sz="900" dirty="0" smtClean="0"/>
                  <a:t> 함수로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ko-KR" altLang="en-US" sz="900" i="1">
                        <a:latin typeface="Cambria Math" panose="02040503050406030204" pitchFamily="18" charset="0"/>
                      </a:rPr>
                      <m:t>을</m:t>
                    </m:r>
                  </m:oMath>
                </a14:m>
                <a:r>
                  <a:rPr lang="ko-KR" altLang="en-US" sz="900" dirty="0" smtClean="0"/>
                  <a:t> 입력받아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9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ko-KR" altLang="en-US" sz="900" i="1" smtClean="0">
                        <a:latin typeface="Cambria Math" panose="02040503050406030204" pitchFamily="18" charset="0"/>
                      </a:rPr>
                      <m:t>을</m:t>
                    </m:r>
                  </m:oMath>
                </a14:m>
                <a:r>
                  <a:rPr lang="en-US" altLang="ko-KR" sz="900" dirty="0" smtClean="0"/>
                  <a:t> </a:t>
                </a:r>
                <a:r>
                  <a:rPr lang="ko-KR" altLang="en-US" sz="900" dirty="0" smtClean="0"/>
                  <a:t>계산하는 함수</a:t>
                </a:r>
                <a:endParaRPr lang="en-US" altLang="ko-KR" sz="900" i="1" dirty="0" smtClean="0">
                  <a:latin typeface="Cambria Math" panose="02040503050406030204" pitchFamily="18" charset="0"/>
                </a:endParaRPr>
              </a:p>
              <a:p>
                <a:pPr marL="628650" lvl="1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9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ko-KR" altLang="en-US" sz="900" i="1" smtClean="0">
                        <a:latin typeface="Cambria Math" panose="02040503050406030204" pitchFamily="18" charset="0"/>
                      </a:rPr>
                      <m:t>은</m:t>
                    </m:r>
                  </m:oMath>
                </a14:m>
                <a:r>
                  <a:rPr lang="en-US" altLang="ko-KR" sz="9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sz="9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900" dirty="0" smtClean="0"/>
                  <a:t>을 </a:t>
                </a:r>
                <a:r>
                  <a:rPr lang="ko-KR" altLang="en-US" sz="900" dirty="0" err="1" smtClean="0"/>
                  <a:t>입력받아</a:t>
                </a:r>
                <a:r>
                  <a:rPr lang="ko-KR" altLang="en-US" sz="900" dirty="0" smtClean="0"/>
                  <a:t> </a:t>
                </a:r>
                <a:r>
                  <a:rPr lang="en-US" altLang="ko-KR" sz="900" dirty="0"/>
                  <a:t>Cost Function</a:t>
                </a:r>
                <a:r>
                  <a:rPr lang="ko-KR" altLang="en-US" sz="900" dirty="0" smtClean="0"/>
                  <a:t>인</a:t>
                </a:r>
                <a14:m>
                  <m:oMath xmlns:m="http://schemas.openxmlformats.org/officeDocument/2006/math">
                    <m:r>
                      <a:rPr lang="en-US" altLang="ko-KR" sz="9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9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ko-KR" altLang="en-US" sz="900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 sz="900" dirty="0" smtClean="0"/>
                  <a:t> 계산하는 함수로 이해할 수 있기 때문이다</a:t>
                </a:r>
                <a:r>
                  <a:rPr lang="en-US" altLang="ko-KR" sz="900" dirty="0" smtClean="0"/>
                  <a:t>.</a:t>
                </a:r>
              </a:p>
              <a:p>
                <a:pPr marL="628650" lvl="1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900" dirty="0" smtClean="0"/>
                  <a:t>그렇다면 이 문제를 </a:t>
                </a:r>
                <a:r>
                  <a:rPr lang="en-US" altLang="ko-KR" sz="900" dirty="0" smtClean="0"/>
                  <a:t>Chain Rule</a:t>
                </a:r>
                <a:r>
                  <a:rPr lang="ko-KR" altLang="en-US" sz="900" dirty="0" smtClean="0"/>
                  <a:t>을 통해 다음과 같이 정의할 수 있다</a:t>
                </a:r>
                <a:r>
                  <a:rPr lang="en-US" altLang="ko-KR" sz="900" dirty="0" smtClean="0"/>
                  <a:t>.</a:t>
                </a:r>
              </a:p>
              <a:p>
                <a:pPr marL="0" lvl="1" algn="ctr">
                  <a:lnSpc>
                    <a:spcPct val="15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41</m:t>
                              </m:r>
                            </m:sub>
                          </m:sSub>
                        </m:den>
                      </m:f>
                      <m:r>
                        <a:rPr lang="en-US" altLang="ko-KR" sz="9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41</m:t>
                              </m:r>
                            </m:sub>
                          </m:sSub>
                        </m:den>
                      </m:f>
                    </m:oMath>
                    <m:oMath xmlns:m="http://schemas.openxmlformats.org/officeDocument/2006/math">
                      <m:r>
                        <a:rPr lang="en-US" altLang="ko-KR" sz="900" b="0" i="1" smtClean="0">
                          <a:latin typeface="Cambria Math" panose="02040503050406030204" pitchFamily="18" charset="0"/>
                        </a:rPr>
                        <m:t>           =</m:t>
                      </m:r>
                      <m:d>
                        <m:dPr>
                          <m:ctrlP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ko-KR" sz="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9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sz="9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sSub>
                        <m:sSubPr>
                          <m:ctrlP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altLang="ko-KR" sz="900" b="0" i="1" smtClean="0">
                          <a:latin typeface="Cambria Math" panose="02040503050406030204" pitchFamily="18" charset="0"/>
                        </a:rPr>
                        <m:t>           =</m:t>
                      </m:r>
                      <m:d>
                        <m:dPr>
                          <m:ctrlP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0.860−0.5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0.860</m:t>
                          </m:r>
                          <m:d>
                            <m:dPr>
                              <m:ctrlP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1−0.860</m:t>
                              </m:r>
                            </m:e>
                          </m:d>
                        </m:e>
                      </m:d>
                      <m:r>
                        <a:rPr lang="en-US" altLang="ko-KR" sz="900" b="0" i="1" smtClean="0">
                          <a:latin typeface="Cambria Math" panose="02040503050406030204" pitchFamily="18" charset="0"/>
                        </a:rPr>
                        <m:t>∗0.937</m:t>
                      </m:r>
                    </m:oMath>
                    <m:oMath xmlns:m="http://schemas.openxmlformats.org/officeDocument/2006/math">
                      <m:r>
                        <a:rPr lang="en-US" altLang="ko-KR" sz="900" b="0" i="1" smtClean="0">
                          <a:latin typeface="Cambria Math" panose="02040503050406030204" pitchFamily="18" charset="0"/>
                        </a:rPr>
                        <m:t>           =0.360∗0.120∗0.937</m:t>
                      </m:r>
                    </m:oMath>
                    <m:oMath xmlns:m="http://schemas.openxmlformats.org/officeDocument/2006/math">
                      <m:r>
                        <a:rPr lang="en-US" altLang="ko-KR" sz="900" b="0" i="1" smtClean="0">
                          <a:latin typeface="Cambria Math" panose="02040503050406030204" pitchFamily="18" charset="0"/>
                        </a:rPr>
                        <m:t>           =0.040</m:t>
                      </m:r>
                    </m:oMath>
                  </m:oMathPara>
                </a14:m>
                <a:endParaRPr lang="en-US" altLang="ko-KR" sz="900" b="0" dirty="0" smtClean="0"/>
              </a:p>
              <a:p>
                <a:pPr marL="171450" lvl="1" indent="-171450" algn="just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900" dirty="0" smtClean="0"/>
                  <a:t>이와 같이 </a:t>
                </a:r>
                <a:r>
                  <a:rPr lang="ko-KR" altLang="en-US" sz="900" dirty="0" err="1" smtClean="0"/>
                  <a:t>파라미터</a:t>
                </a:r>
                <a:r>
                  <a:rPr lang="ko-KR" altLang="en-US" sz="9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  <m:t>41</m:t>
                        </m:r>
                      </m:sub>
                    </m:sSub>
                  </m:oMath>
                </a14:m>
                <a:r>
                  <a:rPr lang="ko-KR" altLang="en-US" sz="900" b="0" dirty="0" smtClean="0"/>
                  <a:t>은 </a:t>
                </a:r>
                <a14:m>
                  <m:oMath xmlns:m="http://schemas.openxmlformats.org/officeDocument/2006/math">
                    <m:r>
                      <a:rPr lang="en-US" altLang="ko-KR" sz="9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ko-KR" altLang="en-US" sz="900" b="0" dirty="0" smtClean="0"/>
                  <a:t>에 </a:t>
                </a:r>
                <a:r>
                  <a:rPr lang="en-US" altLang="ko-KR" sz="900" b="0" dirty="0" smtClean="0"/>
                  <a:t>0.040</a:t>
                </a:r>
                <a:r>
                  <a:rPr lang="ko-KR" altLang="en-US" sz="900" b="0" dirty="0" smtClean="0"/>
                  <a:t>만큼의 변화를 주고 있다는 것을 확인할 수 있다</a:t>
                </a:r>
                <a:r>
                  <a:rPr lang="en-US" altLang="ko-KR" sz="900" b="0" dirty="0" smtClean="0"/>
                  <a:t>.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895350"/>
                <a:ext cx="6705600" cy="37065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그림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350" y="1267534"/>
            <a:ext cx="2438400" cy="772826"/>
          </a:xfrm>
          <a:prstGeom prst="rect">
            <a:avLst/>
          </a:prstGeom>
        </p:spPr>
      </p:pic>
      <p:cxnSp>
        <p:nvCxnSpPr>
          <p:cNvPr id="22" name="꺾인 연결선 21"/>
          <p:cNvCxnSpPr/>
          <p:nvPr/>
        </p:nvCxnSpPr>
        <p:spPr>
          <a:xfrm flipV="1">
            <a:off x="3733800" y="1504950"/>
            <a:ext cx="2362200" cy="17526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102350" y="2084993"/>
                <a:ext cx="2438400" cy="17089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00" dirty="0" smtClean="0"/>
                  <a:t>이전 </a:t>
                </a:r>
                <a:r>
                  <a:rPr lang="ko-KR" altLang="en-US" sz="700" dirty="0" err="1" smtClean="0"/>
                  <a:t>과정해서</a:t>
                </a:r>
                <a:r>
                  <a:rPr lang="ko-KR" altLang="en-US" sz="700" dirty="0" smtClean="0"/>
                  <a:t> 구했던 값들을 통해 각각의 </a:t>
                </a:r>
                <a:r>
                  <a:rPr lang="ko-KR" altLang="en-US" sz="700" dirty="0" err="1" smtClean="0"/>
                  <a:t>편미분</a:t>
                </a:r>
                <a:r>
                  <a:rPr lang="ko-KR" altLang="en-US" sz="700" dirty="0" smtClean="0"/>
                  <a:t> 값들을 구할 수 있다</a:t>
                </a:r>
                <a:r>
                  <a:rPr lang="en-US" altLang="ko-KR" sz="700" dirty="0" smtClean="0"/>
                  <a:t>.</a:t>
                </a:r>
                <a:r>
                  <a:rPr lang="ko-KR" altLang="en-US" sz="700" dirty="0" smtClean="0"/>
                  <a:t> </a:t>
                </a:r>
                <a:endParaRPr lang="en-US" altLang="ko-KR" sz="700" dirty="0" smtClean="0"/>
              </a:p>
              <a:p>
                <a:endParaRPr lang="en-US" altLang="ko-KR" sz="900" dirty="0"/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ko-KR" sz="9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9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  <m:oMath xmlns:m="http://schemas.openxmlformats.org/officeDocument/2006/math">
                      <m:f>
                        <m:fPr>
                          <m:ctrlP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altLang="ko-KR" sz="9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900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ctrlP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f>
                        <m:fPr>
                          <m:ctrlP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41</m:t>
                              </m:r>
                            </m:sub>
                          </m:sSub>
                        </m:den>
                      </m:f>
                      <m:r>
                        <a:rPr lang="en-US" altLang="ko-KR" sz="9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ko-KR" sz="9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350" y="2084993"/>
                <a:ext cx="2438400" cy="17089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제목 1"/>
          <p:cNvSpPr>
            <a:spLocks noGrp="1"/>
          </p:cNvSpPr>
          <p:nvPr>
            <p:ph type="title"/>
          </p:nvPr>
        </p:nvSpPr>
        <p:spPr>
          <a:xfrm>
            <a:off x="457200" y="376453"/>
            <a:ext cx="8229600" cy="442697"/>
          </a:xfrm>
        </p:spPr>
        <p:txBody>
          <a:bodyPr/>
          <a:lstStyle/>
          <a:p>
            <a:r>
              <a:rPr lang="en-US" altLang="ko-KR" sz="2000" dirty="0" smtClean="0"/>
              <a:t>Error Back Propagation</a:t>
            </a:r>
            <a:br>
              <a:rPr lang="en-US" altLang="ko-KR" sz="2000" dirty="0" smtClean="0"/>
            </a:br>
            <a:r>
              <a:rPr lang="en-US" altLang="ko-KR" sz="900" dirty="0"/>
              <a:t>4</a:t>
            </a:r>
            <a:r>
              <a:rPr lang="en-US" altLang="ko-KR" sz="900" dirty="0" smtClean="0"/>
              <a:t>. </a:t>
            </a:r>
            <a:r>
              <a:rPr lang="en-US" altLang="ko-KR" sz="900" dirty="0"/>
              <a:t>Back Propagation(</a:t>
            </a:r>
            <a:r>
              <a:rPr lang="ko-KR" altLang="en-US" sz="900" dirty="0" err="1"/>
              <a:t>역전파</a:t>
            </a:r>
            <a:r>
              <a:rPr lang="en-US" altLang="ko-KR" sz="900" dirty="0"/>
              <a:t>)</a:t>
            </a:r>
            <a:r>
              <a:rPr lang="ko-KR" altLang="en-US" sz="900" dirty="0"/>
              <a:t>를 통한 </a:t>
            </a:r>
            <a:r>
              <a:rPr lang="en-US" altLang="ko-KR" sz="900" dirty="0"/>
              <a:t>1</a:t>
            </a:r>
            <a:r>
              <a:rPr lang="ko-KR" altLang="en-US" sz="900" dirty="0"/>
              <a:t>차 </a:t>
            </a:r>
            <a:r>
              <a:rPr lang="ko-KR" altLang="en-US" sz="900" dirty="0" err="1"/>
              <a:t>미분값</a:t>
            </a:r>
            <a:r>
              <a:rPr lang="ko-KR" altLang="en-US" sz="900" dirty="0"/>
              <a:t> 구하기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4571563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99" y="1287825"/>
            <a:ext cx="2834781" cy="317393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244911"/>
            <a:ext cx="2862388" cy="3248684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381" y="1287825"/>
            <a:ext cx="2234456" cy="9002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19200" y="930377"/>
            <a:ext cx="6705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000" dirty="0" smtClean="0"/>
              <a:t>이를 </a:t>
            </a:r>
            <a:r>
              <a:rPr lang="ko-KR" altLang="en-US" sz="1000" dirty="0" err="1" smtClean="0"/>
              <a:t>은닉층의</a:t>
            </a:r>
            <a:r>
              <a:rPr lang="ko-KR" altLang="en-US" sz="1000" dirty="0" smtClean="0"/>
              <a:t> 가중치 벡터와 편향 벡터 원소 전체를 계산하면 다음과 같다</a:t>
            </a:r>
            <a:r>
              <a:rPr lang="en-US" altLang="ko-KR" sz="1000" dirty="0" smtClean="0"/>
              <a:t>.</a:t>
            </a:r>
            <a:endParaRPr lang="en-US" altLang="ko-KR" sz="1000" dirty="0"/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57200" y="376453"/>
            <a:ext cx="8229600" cy="442697"/>
          </a:xfrm>
        </p:spPr>
        <p:txBody>
          <a:bodyPr/>
          <a:lstStyle/>
          <a:p>
            <a:r>
              <a:rPr lang="en-US" altLang="ko-KR" sz="2000" dirty="0" smtClean="0"/>
              <a:t>Error Back Propagation</a:t>
            </a:r>
            <a:br>
              <a:rPr lang="en-US" altLang="ko-KR" sz="2000" dirty="0" smtClean="0"/>
            </a:br>
            <a:r>
              <a:rPr lang="en-US" altLang="ko-KR" sz="900" dirty="0"/>
              <a:t>4</a:t>
            </a:r>
            <a:r>
              <a:rPr lang="en-US" altLang="ko-KR" sz="900" dirty="0" smtClean="0"/>
              <a:t>. </a:t>
            </a:r>
            <a:r>
              <a:rPr lang="en-US" altLang="ko-KR" sz="900" dirty="0"/>
              <a:t>Back Propagation(</a:t>
            </a:r>
            <a:r>
              <a:rPr lang="ko-KR" altLang="en-US" sz="900" dirty="0" err="1"/>
              <a:t>역전파</a:t>
            </a:r>
            <a:r>
              <a:rPr lang="en-US" altLang="ko-KR" sz="900" dirty="0"/>
              <a:t>)</a:t>
            </a:r>
            <a:r>
              <a:rPr lang="ko-KR" altLang="en-US" sz="900" dirty="0"/>
              <a:t>를 통한 </a:t>
            </a:r>
            <a:r>
              <a:rPr lang="en-US" altLang="ko-KR" sz="900" dirty="0"/>
              <a:t>1</a:t>
            </a:r>
            <a:r>
              <a:rPr lang="ko-KR" altLang="en-US" sz="900" dirty="0"/>
              <a:t>차 </a:t>
            </a:r>
            <a:r>
              <a:rPr lang="ko-KR" altLang="en-US" sz="900" dirty="0" err="1"/>
              <a:t>미분값</a:t>
            </a:r>
            <a:r>
              <a:rPr lang="ko-KR" altLang="en-US" sz="900" dirty="0"/>
              <a:t> 구하기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019653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219200" y="975979"/>
                <a:ext cx="7239000" cy="864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00" dirty="0" smtClean="0"/>
                  <a:t>같은 방법으로 이번에는 </a:t>
                </a:r>
                <a:r>
                  <a:rPr lang="ko-KR" altLang="en-US" sz="1000" dirty="0" err="1" smtClean="0"/>
                  <a:t>은닉층에서</a:t>
                </a:r>
                <a:r>
                  <a:rPr lang="ko-KR" altLang="en-US" sz="1000" dirty="0" smtClean="0"/>
                  <a:t> </a:t>
                </a:r>
                <a:r>
                  <a:rPr lang="ko-KR" altLang="en-US" sz="1000" dirty="0" err="1" smtClean="0"/>
                  <a:t>입력층으로</a:t>
                </a:r>
                <a:r>
                  <a:rPr lang="ko-KR" altLang="en-US" sz="1000" dirty="0" smtClean="0"/>
                  <a:t> 거슬러 올라가는 계산도 할 수 있다</a:t>
                </a:r>
                <a:r>
                  <a:rPr lang="en-US" altLang="ko-KR" sz="1000" dirty="0" smtClean="0"/>
                  <a:t>.</a:t>
                </a:r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00" dirty="0" smtClean="0"/>
                  <a:t>이전 과정과 다른 점은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000" dirty="0" smtClean="0"/>
                  <a:t>과</a:t>
                </a:r>
                <a:r>
                  <a:rPr lang="en-US" altLang="ko-KR" sz="1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ko-KR" altLang="en-US" sz="1000" i="1" smtClean="0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ko-KR" altLang="en-US" sz="10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ko-KR" altLang="en-US" sz="1000" dirty="0" smtClean="0"/>
                  <a:t>에 미치는 </a:t>
                </a:r>
                <a:r>
                  <a:rPr lang="ko-KR" altLang="en-US" sz="1000" dirty="0" err="1" smtClean="0"/>
                  <a:t>변화량을</a:t>
                </a:r>
                <a:r>
                  <a:rPr lang="ko-KR" altLang="en-US" sz="1000" dirty="0" smtClean="0"/>
                  <a:t> 구하는 점인데</a:t>
                </a:r>
                <a:r>
                  <a:rPr lang="en-US" altLang="ko-KR" sz="1000" dirty="0" smtClean="0"/>
                  <a:t>, </a:t>
                </a:r>
                <a:r>
                  <a:rPr lang="ko-KR" altLang="en-US" sz="1000" dirty="0" smtClean="0"/>
                  <a:t>이는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000" dirty="0"/>
                  <a:t>과</a:t>
                </a:r>
                <a:r>
                  <a:rPr lang="en-US" altLang="ko-KR" sz="1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000" dirty="0" smtClean="0"/>
                  <a:t>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000" dirty="0"/>
                  <a:t>과</a:t>
                </a:r>
                <a:r>
                  <a:rPr lang="en-US" altLang="ko-KR" sz="1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ko-KR" altLang="en-US" sz="1000" i="1" smtClean="0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en-US" altLang="ko-KR" sz="1000" dirty="0" smtClean="0"/>
                  <a:t> </a:t>
                </a:r>
                <a:r>
                  <a:rPr lang="ko-KR" altLang="en-US" sz="1000" dirty="0" smtClean="0"/>
                  <a:t>각각 영향을 미치고 있기 때문이다</a:t>
                </a:r>
                <a:r>
                  <a:rPr lang="en-US" altLang="ko-KR" sz="1000" dirty="0" smtClean="0"/>
                  <a:t>.</a:t>
                </a:r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000" dirty="0" smtClean="0"/>
                  <a:t>이를 통해 우리는 </a:t>
                </a:r>
                <a:r>
                  <a:rPr lang="ko-KR" altLang="en-US" sz="1000" dirty="0" err="1" smtClean="0"/>
                  <a:t>입력층에서</a:t>
                </a:r>
                <a:r>
                  <a:rPr lang="ko-KR" altLang="en-US" sz="1000" dirty="0" smtClean="0"/>
                  <a:t> </a:t>
                </a:r>
                <a:r>
                  <a:rPr lang="ko-KR" altLang="en-US" sz="1000" dirty="0" err="1" smtClean="0"/>
                  <a:t>은닉층으로</a:t>
                </a:r>
                <a:r>
                  <a:rPr lang="ko-KR" altLang="en-US" sz="1000" dirty="0" smtClean="0"/>
                  <a:t> 가는 </a:t>
                </a:r>
                <a:r>
                  <a:rPr lang="ko-KR" altLang="en-US" sz="1000" dirty="0" err="1" smtClean="0"/>
                  <a:t>파라미터</a:t>
                </a:r>
                <a:r>
                  <a:rPr lang="ko-KR" altLang="en-US" sz="1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000" dirty="0" smtClean="0"/>
                  <a:t>가 </a:t>
                </a:r>
                <a14:m>
                  <m:oMath xmlns:m="http://schemas.openxmlformats.org/officeDocument/2006/math"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ko-KR" altLang="en-US" sz="1000" dirty="0" smtClean="0"/>
                  <a:t>에 미치는 영향을 산출할 수 있다</a:t>
                </a:r>
                <a:r>
                  <a:rPr lang="en-US" altLang="ko-KR" sz="1000" dirty="0" smtClean="0"/>
                  <a:t>.</a:t>
                </a:r>
                <a:endParaRPr lang="en-US" altLang="ko-KR" sz="1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975979"/>
                <a:ext cx="7239000" cy="864660"/>
              </a:xfrm>
              <a:prstGeom prst="rect">
                <a:avLst/>
              </a:prstGeom>
              <a:blipFill>
                <a:blip r:embed="rId2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2038350"/>
            <a:ext cx="3200400" cy="206381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962150"/>
            <a:ext cx="2557724" cy="1158461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219885"/>
            <a:ext cx="2137322" cy="1154950"/>
          </a:xfrm>
          <a:prstGeom prst="rect">
            <a:avLst/>
          </a:prstGeom>
        </p:spPr>
      </p:pic>
      <p:sp>
        <p:nvSpPr>
          <p:cNvPr id="14" name="제목 1"/>
          <p:cNvSpPr>
            <a:spLocks noGrp="1"/>
          </p:cNvSpPr>
          <p:nvPr>
            <p:ph type="title"/>
          </p:nvPr>
        </p:nvSpPr>
        <p:spPr>
          <a:xfrm>
            <a:off x="457200" y="376453"/>
            <a:ext cx="8229600" cy="442697"/>
          </a:xfrm>
        </p:spPr>
        <p:txBody>
          <a:bodyPr/>
          <a:lstStyle/>
          <a:p>
            <a:r>
              <a:rPr lang="en-US" altLang="ko-KR" sz="2000" dirty="0" smtClean="0"/>
              <a:t>Error Back Propagation</a:t>
            </a:r>
            <a:br>
              <a:rPr lang="en-US" altLang="ko-KR" sz="2000" dirty="0" smtClean="0"/>
            </a:br>
            <a:r>
              <a:rPr lang="en-US" altLang="ko-KR" sz="900" dirty="0"/>
              <a:t>4</a:t>
            </a:r>
            <a:r>
              <a:rPr lang="en-US" altLang="ko-KR" sz="900" dirty="0" smtClean="0"/>
              <a:t>. </a:t>
            </a:r>
            <a:r>
              <a:rPr lang="en-US" altLang="ko-KR" sz="900" dirty="0"/>
              <a:t>Back Propagation(</a:t>
            </a:r>
            <a:r>
              <a:rPr lang="ko-KR" altLang="en-US" sz="900" dirty="0" err="1"/>
              <a:t>역전파</a:t>
            </a:r>
            <a:r>
              <a:rPr lang="en-US" altLang="ko-KR" sz="900" dirty="0"/>
              <a:t>)</a:t>
            </a:r>
            <a:r>
              <a:rPr lang="ko-KR" altLang="en-US" sz="900" dirty="0"/>
              <a:t>를 통한 </a:t>
            </a:r>
            <a:r>
              <a:rPr lang="en-US" altLang="ko-KR" sz="900" dirty="0"/>
              <a:t>1</a:t>
            </a:r>
            <a:r>
              <a:rPr lang="ko-KR" altLang="en-US" sz="900" dirty="0"/>
              <a:t>차 </a:t>
            </a:r>
            <a:r>
              <a:rPr lang="ko-KR" altLang="en-US" sz="900" dirty="0" err="1"/>
              <a:t>미분값</a:t>
            </a:r>
            <a:r>
              <a:rPr lang="ko-KR" altLang="en-US" sz="900" dirty="0"/>
              <a:t> 구하기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007921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219200" y="975979"/>
            <a:ext cx="6705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/>
              <a:t>나머지 가중치 벡터와 편향 벡터가 </a:t>
            </a:r>
            <a:r>
              <a:rPr lang="en-US" altLang="ko-KR" sz="900" dirty="0" smtClean="0"/>
              <a:t>Cost Function</a:t>
            </a:r>
            <a:r>
              <a:rPr lang="ko-KR" altLang="en-US" sz="900" dirty="0" smtClean="0"/>
              <a:t>에 미치는 </a:t>
            </a:r>
            <a:r>
              <a:rPr lang="ko-KR" altLang="en-US" sz="900" dirty="0" err="1" smtClean="0"/>
              <a:t>변화량도</a:t>
            </a:r>
            <a:r>
              <a:rPr lang="ko-KR" altLang="en-US" sz="900" dirty="0" smtClean="0"/>
              <a:t> 계산할 수 있다</a:t>
            </a:r>
            <a:r>
              <a:rPr lang="en-US" altLang="ko-KR" sz="900" dirty="0" smtClean="0"/>
              <a:t>.</a:t>
            </a:r>
            <a:endParaRPr lang="en-US" altLang="ko-KR" sz="9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407" y="1420604"/>
            <a:ext cx="1599371" cy="310244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1760" y="1420604"/>
            <a:ext cx="1642644" cy="329433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420604"/>
            <a:ext cx="2138725" cy="506230"/>
          </a:xfrm>
          <a:prstGeom prst="rect">
            <a:avLst/>
          </a:prstGeom>
        </p:spPr>
      </p:pic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457200" y="376453"/>
            <a:ext cx="8229600" cy="442697"/>
          </a:xfrm>
        </p:spPr>
        <p:txBody>
          <a:bodyPr/>
          <a:lstStyle/>
          <a:p>
            <a:r>
              <a:rPr lang="en-US" altLang="ko-KR" sz="2000" dirty="0" smtClean="0"/>
              <a:t>Error Back Propagation</a:t>
            </a:r>
            <a:br>
              <a:rPr lang="en-US" altLang="ko-KR" sz="2000" dirty="0" smtClean="0"/>
            </a:br>
            <a:r>
              <a:rPr lang="en-US" altLang="ko-KR" sz="900" dirty="0"/>
              <a:t>4</a:t>
            </a:r>
            <a:r>
              <a:rPr lang="en-US" altLang="ko-KR" sz="900" dirty="0" smtClean="0"/>
              <a:t>. </a:t>
            </a:r>
            <a:r>
              <a:rPr lang="en-US" altLang="ko-KR" sz="900" dirty="0"/>
              <a:t>Back Propagation(</a:t>
            </a:r>
            <a:r>
              <a:rPr lang="ko-KR" altLang="en-US" sz="900" dirty="0" err="1"/>
              <a:t>역전파</a:t>
            </a:r>
            <a:r>
              <a:rPr lang="en-US" altLang="ko-KR" sz="900" dirty="0"/>
              <a:t>)</a:t>
            </a:r>
            <a:r>
              <a:rPr lang="ko-KR" altLang="en-US" sz="900" dirty="0"/>
              <a:t>를 통한 </a:t>
            </a:r>
            <a:r>
              <a:rPr lang="en-US" altLang="ko-KR" sz="900" dirty="0"/>
              <a:t>1</a:t>
            </a:r>
            <a:r>
              <a:rPr lang="ko-KR" altLang="en-US" sz="900" dirty="0"/>
              <a:t>차 </a:t>
            </a:r>
            <a:r>
              <a:rPr lang="ko-KR" altLang="en-US" sz="900" dirty="0" err="1"/>
              <a:t>미분값</a:t>
            </a:r>
            <a:r>
              <a:rPr lang="ko-KR" altLang="en-US" sz="900" dirty="0"/>
              <a:t> 구하기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833314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219200" y="975979"/>
                <a:ext cx="6705600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900" dirty="0" smtClean="0"/>
                  <a:t>모든 가중치와 편향이 </a:t>
                </a:r>
                <a:r>
                  <a:rPr lang="en-US" altLang="ko-KR" sz="900" dirty="0" smtClean="0"/>
                  <a:t>Cost Function</a:t>
                </a:r>
                <a:r>
                  <a:rPr lang="ko-KR" altLang="en-US" sz="900" dirty="0" smtClean="0"/>
                  <a:t>에 미치는 </a:t>
                </a:r>
                <a:r>
                  <a:rPr lang="ko-KR" altLang="en-US" sz="900" dirty="0" err="1" smtClean="0"/>
                  <a:t>변화량을</a:t>
                </a:r>
                <a:r>
                  <a:rPr lang="ko-KR" altLang="en-US" sz="900" dirty="0" smtClean="0"/>
                  <a:t> 구했다면 다음은 가중치를 업데이트한다</a:t>
                </a:r>
                <a:r>
                  <a:rPr lang="en-US" altLang="ko-KR" sz="900" dirty="0" smtClean="0"/>
                  <a:t>.</a:t>
                </a:r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900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ko-KR" altLang="en-US" sz="900" i="1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 sz="900" dirty="0"/>
                  <a:t> </a:t>
                </a:r>
                <a14:m>
                  <m:oMath xmlns:m="http://schemas.openxmlformats.org/officeDocument/2006/math">
                    <m:r>
                      <a:rPr lang="en-US" altLang="ko-KR" sz="900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altLang="ko-KR" sz="900" i="1">
                        <a:latin typeface="Cambria Math" panose="02040503050406030204" pitchFamily="18" charset="0"/>
                      </a:rPr>
                      <m:t>∈(0,1)</m:t>
                    </m:r>
                  </m:oMath>
                </a14:m>
                <a:r>
                  <a:rPr lang="ko-KR" altLang="en-US" sz="900" dirty="0" smtClean="0"/>
                  <a:t>이며 알고리즘 반복 과정에서 매번 업데이트 속도를 조절한다</a:t>
                </a:r>
                <a:r>
                  <a:rPr lang="en-US" altLang="ko-KR" sz="900" dirty="0" smtClean="0"/>
                  <a:t>.</a:t>
                </a:r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900" dirty="0" smtClean="0"/>
                  <a:t>만약 너무 크면 큰 값으로 발산해버리고</a:t>
                </a:r>
                <a:r>
                  <a:rPr lang="en-US" altLang="ko-KR" sz="900" dirty="0" smtClean="0"/>
                  <a:t>, </a:t>
                </a:r>
                <a:r>
                  <a:rPr lang="ko-KR" altLang="en-US" sz="900" dirty="0" smtClean="0"/>
                  <a:t>너무 작다면 수렴하는 속도가 지나치게 느려질 수 있다</a:t>
                </a:r>
                <a:r>
                  <a:rPr lang="en-US" altLang="ko-KR" sz="900" dirty="0" smtClean="0"/>
                  <a:t>.</a:t>
                </a:r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900" dirty="0" smtClean="0"/>
                  <a:t>정밀한 조율을 위해 </a:t>
                </a:r>
                <a:r>
                  <a:rPr lang="ko-KR" altLang="en-US" sz="900" dirty="0" err="1" smtClean="0"/>
                  <a:t>학습률을</a:t>
                </a:r>
                <a:r>
                  <a:rPr lang="ko-KR" altLang="en-US" sz="900" dirty="0" smtClean="0"/>
                  <a:t> 층마다 다르게 설정할 수 있고 학습이 될수록 </a:t>
                </a:r>
                <a:r>
                  <a:rPr lang="ko-KR" altLang="en-US" sz="900" dirty="0" err="1" smtClean="0"/>
                  <a:t>학습률이</a:t>
                </a:r>
                <a:r>
                  <a:rPr lang="ko-KR" altLang="en-US" sz="900" dirty="0" smtClean="0"/>
                  <a:t> 더뎌지게 설정할 수도 있다</a:t>
                </a:r>
                <a:r>
                  <a:rPr lang="en-US" altLang="ko-KR" sz="900" dirty="0" smtClean="0"/>
                  <a:t>.</a:t>
                </a:r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900" dirty="0" smtClean="0"/>
                  <a:t>아래와 같은 재귀적 반복 과정은 어떠한 </a:t>
                </a:r>
                <a:r>
                  <a:rPr lang="ko-KR" altLang="en-US" sz="900" dirty="0" err="1" smtClean="0"/>
                  <a:t>정지조건을</a:t>
                </a:r>
                <a:r>
                  <a:rPr lang="ko-KR" altLang="en-US" sz="900" dirty="0" smtClean="0"/>
                  <a:t> 만족시킬 때까지 계속 진행된다</a:t>
                </a:r>
                <a:r>
                  <a:rPr lang="en-US" altLang="ko-KR" sz="900" dirty="0" smtClean="0"/>
                  <a:t>.</a:t>
                </a:r>
              </a:p>
              <a:p>
                <a:pPr marL="628650" lvl="1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800" dirty="0" smtClean="0"/>
                  <a:t>예를 들면 </a:t>
                </a:r>
                <a:r>
                  <a:rPr lang="ko-KR" altLang="en-US" sz="800" dirty="0" err="1" smtClean="0"/>
                  <a:t>훈련오차가</a:t>
                </a:r>
                <a:r>
                  <a:rPr lang="ko-KR" altLang="en-US" sz="800" dirty="0" smtClean="0"/>
                  <a:t> 이미 아주 작은 값에 도달하는 경우이다</a:t>
                </a:r>
                <a:r>
                  <a:rPr lang="en-US" altLang="ko-KR" sz="800" dirty="0" smtClean="0"/>
                  <a:t>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975979"/>
                <a:ext cx="6705600" cy="1292662"/>
              </a:xfrm>
              <a:prstGeom prst="rect">
                <a:avLst/>
              </a:prstGeom>
              <a:blipFill>
                <a:blip r:embed="rId2"/>
                <a:stretch>
                  <a:fillRect b="-47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그룹 3"/>
          <p:cNvGrpSpPr/>
          <p:nvPr/>
        </p:nvGrpSpPr>
        <p:grpSpPr>
          <a:xfrm>
            <a:off x="2281670" y="2571750"/>
            <a:ext cx="4580660" cy="1796013"/>
            <a:chOff x="2133600" y="2708567"/>
            <a:chExt cx="4580660" cy="1796013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 rotWithShape="1">
            <a:blip r:embed="rId3"/>
            <a:srcRect b="50431"/>
            <a:stretch/>
          </p:blipFill>
          <p:spPr>
            <a:xfrm>
              <a:off x="2133600" y="2739280"/>
              <a:ext cx="2370860" cy="1765300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3"/>
            <a:srcRect t="49569"/>
            <a:stretch/>
          </p:blipFill>
          <p:spPr>
            <a:xfrm>
              <a:off x="4343400" y="2708567"/>
              <a:ext cx="2370860" cy="1796013"/>
            </a:xfrm>
            <a:prstGeom prst="rect">
              <a:avLst/>
            </a:prstGeom>
          </p:spPr>
        </p:pic>
      </p:grpSp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457200" y="376453"/>
            <a:ext cx="8229600" cy="442697"/>
          </a:xfrm>
        </p:spPr>
        <p:txBody>
          <a:bodyPr/>
          <a:lstStyle/>
          <a:p>
            <a:r>
              <a:rPr lang="en-US" altLang="ko-KR" sz="2000" dirty="0" smtClean="0"/>
              <a:t>Error Back Propagation</a:t>
            </a:r>
            <a:br>
              <a:rPr lang="en-US" altLang="ko-KR" sz="2000" dirty="0" smtClean="0"/>
            </a:br>
            <a:r>
              <a:rPr lang="en-US" altLang="ko-KR" sz="900" dirty="0"/>
              <a:t>5</a:t>
            </a:r>
            <a:r>
              <a:rPr lang="en-US" altLang="ko-KR" sz="900" dirty="0" smtClean="0"/>
              <a:t>. </a:t>
            </a:r>
            <a:r>
              <a:rPr lang="en-US" altLang="ko-KR" sz="800" dirty="0"/>
              <a:t>Parameter(</a:t>
            </a:r>
            <a:r>
              <a:rPr lang="ko-KR" altLang="en-US" sz="800" dirty="0"/>
              <a:t>가중치 벡터</a:t>
            </a:r>
            <a:r>
              <a:rPr lang="en-US" altLang="ko-KR" sz="800" dirty="0"/>
              <a:t>) </a:t>
            </a:r>
            <a:r>
              <a:rPr lang="ko-KR" altLang="en-US" sz="800" dirty="0"/>
              <a:t>업데이트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024822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1800" dirty="0" smtClean="0"/>
              <a:t>더 읽을 거리</a:t>
            </a:r>
            <a:endParaRPr lang="ko-KR" altLang="en-US" sz="1800" dirty="0"/>
          </a:p>
        </p:txBody>
      </p:sp>
      <p:sp>
        <p:nvSpPr>
          <p:cNvPr id="9" name="TextBox 8"/>
          <p:cNvSpPr txBox="1"/>
          <p:nvPr/>
        </p:nvSpPr>
        <p:spPr>
          <a:xfrm>
            <a:off x="1219200" y="975979"/>
            <a:ext cx="67056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900" dirty="0" smtClean="0"/>
              <a:t>[</a:t>
            </a:r>
            <a:r>
              <a:rPr lang="en-US" altLang="ko-KR" sz="900" dirty="0" err="1" smtClean="0"/>
              <a:t>Hornik</a:t>
            </a:r>
            <a:r>
              <a:rPr lang="en-US" altLang="ko-KR" sz="900" dirty="0" smtClean="0"/>
              <a:t> et al., 1989]</a:t>
            </a:r>
            <a:r>
              <a:rPr lang="ko-KR" altLang="en-US" sz="900" dirty="0" smtClean="0"/>
              <a:t>는 은닉 노드가 충분히 많다면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활성화 함수로 무엇을 사용하든 다층 순방향 신경망은 어떤 함수라도 원하는 정확도만큼 </a:t>
            </a:r>
            <a:r>
              <a:rPr lang="ko-KR" altLang="en-US" sz="900" dirty="0" err="1" smtClean="0"/>
              <a:t>근사화할</a:t>
            </a:r>
            <a:r>
              <a:rPr lang="ko-KR" altLang="en-US" sz="900" dirty="0" smtClean="0"/>
              <a:t> 수 있다는 것을 증명하였다</a:t>
            </a:r>
            <a:r>
              <a:rPr lang="en-US" altLang="ko-KR" sz="900" dirty="0" smtClean="0"/>
              <a:t>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900" dirty="0"/>
              <a:t>하지만 </a:t>
            </a:r>
            <a:r>
              <a:rPr lang="ko-KR" altLang="en-US" sz="900" dirty="0" err="1"/>
              <a:t>은닉층의</a:t>
            </a:r>
            <a:r>
              <a:rPr lang="ko-KR" altLang="en-US" sz="900" dirty="0"/>
              <a:t> 뉴런 개수를 어떻게 설정하느냐는 아직도 해결되지 않은 문제이며 실제로는 시행착오</a:t>
            </a:r>
            <a:r>
              <a:rPr lang="en-US" altLang="ko-KR" sz="900" dirty="0"/>
              <a:t>(trial-by-error)</a:t>
            </a:r>
            <a:r>
              <a:rPr lang="ko-KR" altLang="en-US" sz="900" dirty="0"/>
              <a:t>방법에만 의존해서 조정할 수 밖에 없다</a:t>
            </a:r>
            <a:r>
              <a:rPr lang="en-US" altLang="ko-KR" sz="900" dirty="0" smtClean="0"/>
              <a:t>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/>
              <a:t>이러한 오차 </a:t>
            </a:r>
            <a:r>
              <a:rPr lang="ko-KR" altLang="en-US" sz="900" dirty="0" err="1" smtClean="0"/>
              <a:t>역전파</a:t>
            </a:r>
            <a:r>
              <a:rPr lang="ko-KR" altLang="en-US" sz="900" dirty="0" smtClean="0"/>
              <a:t> 신경망의 강력한 표현 능력은 </a:t>
            </a:r>
            <a:r>
              <a:rPr lang="ko-KR" altLang="en-US" sz="900" dirty="0" err="1" smtClean="0"/>
              <a:t>과적합</a:t>
            </a:r>
            <a:r>
              <a:rPr lang="ko-KR" altLang="en-US" sz="900" dirty="0" smtClean="0"/>
              <a:t> 현상을 자주 만들게 되는데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즉 </a:t>
            </a:r>
            <a:r>
              <a:rPr lang="ko-KR" altLang="en-US" sz="900" dirty="0" err="1" smtClean="0"/>
              <a:t>훈련오차는</a:t>
            </a:r>
            <a:r>
              <a:rPr lang="ko-KR" altLang="en-US" sz="900" dirty="0" smtClean="0"/>
              <a:t> 지속해서 줄어들지만 테스트 오차는 상승하는 것이다</a:t>
            </a:r>
            <a:r>
              <a:rPr lang="en-US" altLang="ko-KR" sz="900" dirty="0" smtClean="0"/>
              <a:t>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/>
              <a:t>이를 방지하기 위해 자주 사용하는 방법은 </a:t>
            </a:r>
            <a:r>
              <a:rPr lang="en-US" altLang="ko-KR" sz="900" dirty="0" smtClean="0"/>
              <a:t>Early Stopping(</a:t>
            </a:r>
            <a:r>
              <a:rPr lang="ko-KR" altLang="en-US" sz="900" dirty="0" smtClean="0"/>
              <a:t>조기 종료</a:t>
            </a:r>
            <a:r>
              <a:rPr lang="en-US" altLang="ko-KR" sz="900" dirty="0" smtClean="0"/>
              <a:t>)</a:t>
            </a:r>
            <a:r>
              <a:rPr lang="ko-KR" altLang="en-US" sz="900" dirty="0" smtClean="0"/>
              <a:t>와 </a:t>
            </a:r>
            <a:r>
              <a:rPr lang="en-US" altLang="ko-KR" sz="900" dirty="0" smtClean="0"/>
              <a:t>Regularization(</a:t>
            </a:r>
            <a:r>
              <a:rPr lang="ko-KR" altLang="en-US" sz="900" dirty="0" smtClean="0"/>
              <a:t>정규화</a:t>
            </a:r>
            <a:r>
              <a:rPr lang="en-US" altLang="ko-KR" sz="900" dirty="0" smtClean="0"/>
              <a:t>) </a:t>
            </a:r>
            <a:r>
              <a:rPr lang="ko-KR" altLang="en-US" sz="900" dirty="0" smtClean="0"/>
              <a:t>등의 방법이 있다</a:t>
            </a:r>
            <a:r>
              <a:rPr lang="en-US" altLang="ko-KR" sz="900" dirty="0" smtClean="0"/>
              <a:t>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/>
              <a:t>오차 </a:t>
            </a:r>
            <a:r>
              <a:rPr lang="ko-KR" altLang="en-US" sz="900" dirty="0" err="1" smtClean="0"/>
              <a:t>역전파</a:t>
            </a:r>
            <a:r>
              <a:rPr lang="ko-KR" altLang="en-US" sz="900" dirty="0" smtClean="0"/>
              <a:t> 알고리즘은 크게 표준 오차 </a:t>
            </a:r>
            <a:r>
              <a:rPr lang="ko-KR" altLang="en-US" sz="900" dirty="0" err="1" smtClean="0"/>
              <a:t>역전파</a:t>
            </a:r>
            <a:r>
              <a:rPr lang="ko-KR" altLang="en-US" sz="900" dirty="0" smtClean="0"/>
              <a:t> 알고리즘과 누적 오차 </a:t>
            </a:r>
            <a:r>
              <a:rPr lang="ko-KR" altLang="en-US" sz="900" dirty="0" err="1" smtClean="0"/>
              <a:t>역전파</a:t>
            </a:r>
            <a:r>
              <a:rPr lang="ko-KR" altLang="en-US" sz="900" dirty="0" smtClean="0"/>
              <a:t> 알고리즘이 있다</a:t>
            </a:r>
            <a:r>
              <a:rPr lang="en-US" altLang="ko-KR" sz="900" dirty="0" smtClean="0"/>
              <a:t>. </a:t>
            </a:r>
            <a:r>
              <a:rPr lang="ko-KR" altLang="en-US" sz="900" dirty="0" smtClean="0"/>
              <a:t>위에서 살펴본 알고리즘은 누적 오차 </a:t>
            </a:r>
            <a:r>
              <a:rPr lang="ko-KR" altLang="en-US" sz="900" dirty="0" err="1" smtClean="0"/>
              <a:t>역전파</a:t>
            </a:r>
            <a:r>
              <a:rPr lang="ko-KR" altLang="en-US" sz="900" dirty="0" smtClean="0"/>
              <a:t> 알고리즘으로 전체 훈련 세트 </a:t>
            </a:r>
            <a:r>
              <a:rPr lang="en-US" altLang="ko-KR" sz="900" dirty="0" smtClean="0"/>
              <a:t>D</a:t>
            </a:r>
            <a:r>
              <a:rPr lang="ko-KR" altLang="en-US" sz="900" dirty="0" smtClean="0"/>
              <a:t>를 한 번에 읽은 후 </a:t>
            </a:r>
            <a:r>
              <a:rPr lang="ko-KR" altLang="en-US" sz="900" dirty="0" err="1" smtClean="0"/>
              <a:t>파라미터</a:t>
            </a:r>
            <a:r>
              <a:rPr lang="ko-KR" altLang="en-US" sz="900" dirty="0" smtClean="0"/>
              <a:t> 업데이트를 진행하므로 </a:t>
            </a:r>
            <a:r>
              <a:rPr lang="ko-KR" altLang="en-US" sz="900" dirty="0" err="1" smtClean="0"/>
              <a:t>파라미터</a:t>
            </a:r>
            <a:r>
              <a:rPr lang="ko-KR" altLang="en-US" sz="900" dirty="0" smtClean="0"/>
              <a:t> 업데이트 빈도가 낮다</a:t>
            </a:r>
            <a:r>
              <a:rPr lang="en-US" altLang="ko-KR" sz="900" dirty="0" smtClean="0"/>
              <a:t>. </a:t>
            </a:r>
            <a:r>
              <a:rPr lang="ko-KR" altLang="en-US" sz="900" dirty="0" smtClean="0"/>
              <a:t>하지만 누적 오차가 일정 정도로 하락한 후에는 학습이 잘 이뤄지지 않는다는 단점이 있다</a:t>
            </a:r>
            <a:r>
              <a:rPr lang="en-US" altLang="ko-KR" sz="900" dirty="0" smtClean="0"/>
              <a:t>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/>
              <a:t>표준 오차 </a:t>
            </a:r>
            <a:r>
              <a:rPr lang="ko-KR" altLang="en-US" sz="900" dirty="0" err="1" smtClean="0"/>
              <a:t>역전파</a:t>
            </a:r>
            <a:r>
              <a:rPr lang="ko-KR" altLang="en-US" sz="900" dirty="0" smtClean="0"/>
              <a:t> 알고리즘은 한 번에 한 개 샘플에 대해서 가중치와 </a:t>
            </a:r>
            <a:r>
              <a:rPr lang="ko-KR" altLang="en-US" sz="900" dirty="0" err="1" smtClean="0"/>
              <a:t>임곗값을</a:t>
            </a:r>
            <a:r>
              <a:rPr lang="ko-KR" altLang="en-US" sz="900" dirty="0" smtClean="0"/>
              <a:t> 업데이트하므로 </a:t>
            </a:r>
            <a:r>
              <a:rPr lang="ko-KR" altLang="en-US" sz="900" dirty="0" err="1" smtClean="0"/>
              <a:t>파라미터</a:t>
            </a:r>
            <a:r>
              <a:rPr lang="ko-KR" altLang="en-US" sz="900" dirty="0" smtClean="0"/>
              <a:t> 업데이트가 매우 빈번하게 발생하며 서로 다른 샘플에 대해 업데이트를 진행하는 과정에서 서로 업데이트를 상쇄하는 현상이 발생할 수 있다</a:t>
            </a:r>
            <a:r>
              <a:rPr lang="en-US" altLang="ko-KR" sz="900" dirty="0" smtClean="0"/>
              <a:t>. </a:t>
            </a:r>
            <a:r>
              <a:rPr lang="ko-KR" altLang="en-US" sz="900" dirty="0" smtClean="0"/>
              <a:t>같은 누적 오차 </a:t>
            </a:r>
            <a:r>
              <a:rPr lang="ko-KR" altLang="en-US" sz="900" dirty="0" err="1" smtClean="0"/>
              <a:t>극소점에</a:t>
            </a:r>
            <a:r>
              <a:rPr lang="ko-KR" altLang="en-US" sz="900" dirty="0" smtClean="0"/>
              <a:t> 도달하기 위해 표준 오차 </a:t>
            </a:r>
            <a:r>
              <a:rPr lang="ko-KR" altLang="en-US" sz="900" dirty="0" err="1" smtClean="0"/>
              <a:t>역전파법은</a:t>
            </a:r>
            <a:r>
              <a:rPr lang="ko-KR" altLang="en-US" sz="900" dirty="0" smtClean="0"/>
              <a:t> 더 많은 수의 반복을 진행해야 한다</a:t>
            </a:r>
            <a:r>
              <a:rPr lang="en-US" altLang="ko-KR" sz="900" dirty="0" smtClean="0"/>
              <a:t>.</a:t>
            </a:r>
            <a:endParaRPr lang="en-US" altLang="ko-KR" sz="900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900" dirty="0" smtClean="0"/>
          </a:p>
        </p:txBody>
      </p:sp>
    </p:spTree>
    <p:extLst>
      <p:ext uri="{BB962C8B-B14F-4D97-AF65-F5344CB8AC3E}">
        <p14:creationId xmlns:p14="http://schemas.microsoft.com/office/powerpoint/2010/main" val="10504958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1800" dirty="0" smtClean="0"/>
              <a:t>출처</a:t>
            </a:r>
            <a:endParaRPr lang="ko-KR" altLang="en-US" sz="1800" dirty="0"/>
          </a:p>
        </p:txBody>
      </p:sp>
      <p:sp>
        <p:nvSpPr>
          <p:cNvPr id="9" name="TextBox 8"/>
          <p:cNvSpPr txBox="1"/>
          <p:nvPr/>
        </p:nvSpPr>
        <p:spPr>
          <a:xfrm>
            <a:off x="1219200" y="975979"/>
            <a:ext cx="670560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/>
              <a:t>단단한 </a:t>
            </a:r>
            <a:r>
              <a:rPr lang="ko-KR" altLang="en-US" sz="900" dirty="0" err="1" smtClean="0"/>
              <a:t>머신러닝</a:t>
            </a:r>
            <a:endParaRPr lang="en-US" altLang="ko-KR" sz="900" dirty="0" smtClean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900" dirty="0" err="1" smtClean="0"/>
              <a:t>선형대수와</a:t>
            </a:r>
            <a:r>
              <a:rPr lang="ko-KR" altLang="en-US" sz="900" dirty="0" smtClean="0"/>
              <a:t> 통계학으로 배우는 </a:t>
            </a:r>
            <a:r>
              <a:rPr lang="ko-KR" altLang="en-US" sz="900" dirty="0" err="1" smtClean="0"/>
              <a:t>머신러닝</a:t>
            </a:r>
            <a:endParaRPr lang="en-US" altLang="ko-KR" sz="900" dirty="0" smtClean="0"/>
          </a:p>
        </p:txBody>
      </p:sp>
    </p:spTree>
    <p:extLst>
      <p:ext uri="{BB962C8B-B14F-4D97-AF65-F5344CB8AC3E}">
        <p14:creationId xmlns:p14="http://schemas.microsoft.com/office/powerpoint/2010/main" val="9506571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Conclusion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250318-28D1-4DC0-9E5F-EF517807C057}"/>
              </a:ext>
            </a:extLst>
          </p:cNvPr>
          <p:cNvSpPr txBox="1"/>
          <p:nvPr/>
        </p:nvSpPr>
        <p:spPr>
          <a:xfrm>
            <a:off x="685800" y="1602254"/>
            <a:ext cx="7467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/>
              <a:t>Thank you</a:t>
            </a:r>
          </a:p>
          <a:p>
            <a:pPr algn="ctr"/>
            <a:r>
              <a:rPr lang="en-US" altLang="ko-KR" sz="4400" b="1" dirty="0"/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246384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LabPPTv1.pptx" id="{40F6047B-5EE6-4566-BC5E-3571A2220D60}" vid="{F984BC31-79A8-492A-8888-FE7ECF3EB51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BSCLabPPTv1</Template>
  <TotalTime>18293</TotalTime>
  <Words>1143</Words>
  <Application>Microsoft Office PowerPoint</Application>
  <PresentationFormat>화면 슬라이드 쇼(16:9)</PresentationFormat>
  <Paragraphs>171</Paragraphs>
  <Slides>29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6" baseType="lpstr">
      <vt:lpstr>맑은 고딕</vt:lpstr>
      <vt:lpstr>Arial</vt:lpstr>
      <vt:lpstr>Calibri</vt:lpstr>
      <vt:lpstr>Calibri Light</vt:lpstr>
      <vt:lpstr>Cambria</vt:lpstr>
      <vt:lpstr>Cambria Math</vt:lpstr>
      <vt:lpstr>Office 테마</vt:lpstr>
      <vt:lpstr>PowerPoint 프레젠테이션</vt:lpstr>
      <vt:lpstr>Contents</vt:lpstr>
      <vt:lpstr>인공신경망의 개념</vt:lpstr>
      <vt:lpstr>인공신경망의 개념</vt:lpstr>
      <vt:lpstr>인공신경망의 개념</vt:lpstr>
      <vt:lpstr>인공신경망의 개념</vt:lpstr>
      <vt:lpstr>인공신경망의 개념</vt:lpstr>
      <vt:lpstr>인공신경망의 개념</vt:lpstr>
      <vt:lpstr>Activation Function</vt:lpstr>
      <vt:lpstr>Activation Function</vt:lpstr>
      <vt:lpstr>Activation Function</vt:lpstr>
      <vt:lpstr>Error Back Propagation</vt:lpstr>
      <vt:lpstr>Error Back Propagation</vt:lpstr>
      <vt:lpstr>Error Back Propagation</vt:lpstr>
      <vt:lpstr>Error Back Propagation</vt:lpstr>
      <vt:lpstr>Error Back Propagation 1. 가중치 초기화</vt:lpstr>
      <vt:lpstr>Error Back Propagation 2. 순전파(Forward Propagation)을 통한 출력값 계산</vt:lpstr>
      <vt:lpstr>Error Back Propagation 2. 순전파(Forward Propagation)을 통한 출력값 계산</vt:lpstr>
      <vt:lpstr>Error Back Propagation 3. Cost Function(비용 함수)정의 및 1차 미분식 구하기</vt:lpstr>
      <vt:lpstr>Error Back Propagation 3. Cost Function(비용 함수)정의 및 1차 미분식 구하기</vt:lpstr>
      <vt:lpstr>Error Back Propagation 4. Back Propagation(역전파)를 통한 1차 미분값 구하기</vt:lpstr>
      <vt:lpstr>Error Back Propagation 4. Back Propagation(역전파)를 통한 1차 미분값 구하기</vt:lpstr>
      <vt:lpstr>Error Back Propagation 4. Back Propagation(역전파)를 통한 1차 미분값 구하기</vt:lpstr>
      <vt:lpstr>Error Back Propagation 4. Back Propagation(역전파)를 통한 1차 미분값 구하기</vt:lpstr>
      <vt:lpstr>Error Back Propagation 4. Back Propagation(역전파)를 통한 1차 미분값 구하기</vt:lpstr>
      <vt:lpstr>Error Back Propagation 5. Parameter(가중치 벡터) 업데이트</vt:lpstr>
      <vt:lpstr>더 읽을 거리</vt:lpstr>
      <vt:lpstr>출처</vt:lpstr>
      <vt:lpstr>Conclusion</vt:lpstr>
    </vt:vector>
  </TitlesOfParts>
  <Company>IdeasResearch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Scheduling</dc:title>
  <dc:creator>Yulim</dc:creator>
  <cp:lastModifiedBy>Kimminseop</cp:lastModifiedBy>
  <cp:revision>2016</cp:revision>
  <dcterms:created xsi:type="dcterms:W3CDTF">2016-10-05T02:16:34Z</dcterms:created>
  <dcterms:modified xsi:type="dcterms:W3CDTF">2022-03-04T07:49:35Z</dcterms:modified>
</cp:coreProperties>
</file>