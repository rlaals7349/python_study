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92" r:id="rId2"/>
  </p:sldMasterIdLst>
  <p:sldIdLst>
    <p:sldId id="256" r:id="rId3"/>
    <p:sldId id="261" r:id="rId4"/>
    <p:sldId id="272" r:id="rId5"/>
    <p:sldId id="257" r:id="rId6"/>
    <p:sldId id="262" r:id="rId7"/>
    <p:sldId id="263" r:id="rId8"/>
    <p:sldId id="264" r:id="rId9"/>
    <p:sldId id="271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474" autoAdjust="0"/>
    <p:restoredTop sz="94660"/>
  </p:normalViewPr>
  <p:slideViewPr>
    <p:cSldViewPr snapToGrid="0">
      <p:cViewPr>
        <p:scale>
          <a:sx n="100" d="100"/>
          <a:sy n="100" d="100"/>
        </p:scale>
        <p:origin x="21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105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23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45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127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24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4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256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8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49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38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786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045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084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191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108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287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0899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77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639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7104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992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0128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74580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017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228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7309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7546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971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90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1160C16-A28C-4507-A0D9-176A8B0F0E2E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A5A60-3522-4B6B-9D9A-1E1D2125B1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61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424094"/>
            <a:ext cx="9144000" cy="847753"/>
          </a:xfrm>
        </p:spPr>
        <p:txBody>
          <a:bodyPr>
            <a:noAutofit/>
          </a:bodyPr>
          <a:lstStyle/>
          <a:p>
            <a:pPr algn="ctr"/>
            <a:r>
              <a:rPr lang="en-US" altLang="ko-KR" sz="4800" dirty="0" smtClean="0"/>
              <a:t>CHAPTER 04 </a:t>
            </a:r>
            <a:r>
              <a:rPr lang="ko-KR" altLang="en-US" sz="4800" dirty="0" smtClean="0"/>
              <a:t>의사결정나무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1049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4.1  </a:t>
            </a:r>
            <a:r>
              <a:rPr lang="ko-KR" altLang="en-US" sz="2000" dirty="0" smtClean="0"/>
              <a:t>충돌되는 데이터</a:t>
            </a:r>
            <a:r>
              <a:rPr lang="en-US" altLang="ko-KR" sz="1050" dirty="0" smtClean="0"/>
              <a:t>Conflicting data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즉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특성 벡터가 완전히 같지만 레이블은 다른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를 포함하지 않는 훈련 세트에 대해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훈련 세트와 일치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훈련 오차가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인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하는 의사결정 트리가 반드시 존재한다는 사실을 증명하라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050" dirty="0"/>
              <a:t>훈련 </a:t>
            </a:r>
            <a:r>
              <a:rPr lang="ko-KR" altLang="en-US" sz="1050" dirty="0" err="1"/>
              <a:t>데이터셋과</a:t>
            </a:r>
            <a:r>
              <a:rPr lang="ko-KR" altLang="en-US" sz="1050" dirty="0"/>
              <a:t> 일치하는 의사결정 트리가 존재하지 않는다고 가정한다면</a:t>
            </a:r>
            <a:r>
              <a:rPr lang="en-US" altLang="ko-KR" sz="1050" dirty="0"/>
              <a:t>, </a:t>
            </a:r>
            <a:r>
              <a:rPr lang="ko-KR" altLang="en-US" sz="1050" dirty="0"/>
              <a:t>훈련 데이터셋으로 훈련해 얻은 의사결정 트리의 최소 한개의 </a:t>
            </a:r>
            <a:r>
              <a:rPr lang="ko-KR" altLang="en-US" sz="1050" dirty="0" err="1"/>
              <a:t>노드상에</a:t>
            </a:r>
            <a:r>
              <a:rPr lang="ko-KR" altLang="en-US" sz="1050" dirty="0"/>
              <a:t> 분할할 수 없는 데이터가 있어야한다</a:t>
            </a:r>
            <a:r>
              <a:rPr lang="en-US" altLang="ko-KR" sz="1050" dirty="0"/>
              <a:t>(</a:t>
            </a:r>
            <a:r>
              <a:rPr lang="ko-KR" altLang="en-US" sz="1050" dirty="0"/>
              <a:t>만약 </a:t>
            </a:r>
            <a:r>
              <a:rPr lang="ko-KR" altLang="en-US" sz="1050" dirty="0" err="1"/>
              <a:t>노드상에</a:t>
            </a:r>
            <a:r>
              <a:rPr lang="ko-KR" altLang="en-US" sz="1050" dirty="0"/>
              <a:t> </a:t>
            </a:r>
            <a:r>
              <a:rPr lang="en-US" altLang="ko-KR" sz="1050" dirty="0"/>
              <a:t>conflicting data</a:t>
            </a:r>
            <a:r>
              <a:rPr lang="ko-KR" altLang="en-US" sz="1050" dirty="0"/>
              <a:t>가 없다면 해당 데이터는 분리 가능해야 한다</a:t>
            </a:r>
            <a:r>
              <a:rPr lang="en-US" altLang="ko-KR" sz="1050" dirty="0"/>
              <a:t>). </a:t>
            </a:r>
            <a:r>
              <a:rPr lang="ko-KR" altLang="en-US" sz="1050" dirty="0"/>
              <a:t>이는 전제</a:t>
            </a:r>
            <a:r>
              <a:rPr lang="en-US" altLang="ko-KR" sz="1050" dirty="0"/>
              <a:t>(</a:t>
            </a:r>
            <a:r>
              <a:rPr lang="ko-KR" altLang="en-US" sz="1050" dirty="0"/>
              <a:t>충돌되는 데이터를 포함하지 않는다</a:t>
            </a:r>
            <a:r>
              <a:rPr lang="en-US" altLang="ko-KR" sz="1050" dirty="0"/>
              <a:t>)</a:t>
            </a:r>
            <a:r>
              <a:rPr lang="ko-KR" altLang="en-US" sz="1050" dirty="0"/>
              <a:t>와 모순되기 때문에 반드시 </a:t>
            </a:r>
            <a:r>
              <a:rPr lang="ko-KR" altLang="en-US" sz="1050" dirty="0" smtClean="0"/>
              <a:t>훈련데이터셋과 </a:t>
            </a:r>
            <a:r>
              <a:rPr lang="ko-KR" altLang="en-US" sz="1050" dirty="0"/>
              <a:t>일치하는 의사결정 트리가 있어야 한다</a:t>
            </a:r>
            <a:r>
              <a:rPr lang="en-US" altLang="ko-KR" sz="1050" dirty="0" smtClean="0"/>
              <a:t>.</a:t>
            </a:r>
            <a:endParaRPr lang="en-US" altLang="ko-KR" sz="1100" dirty="0" smtClean="0"/>
          </a:p>
          <a:p>
            <a:endParaRPr lang="en-US" altLang="ko-KR" sz="1100" dirty="0"/>
          </a:p>
          <a:p>
            <a:r>
              <a:rPr lang="ko-KR" altLang="en-US" sz="1050" dirty="0"/>
              <a:t>단단한 </a:t>
            </a:r>
            <a:r>
              <a:rPr lang="ko-KR" altLang="en-US" sz="1050" dirty="0" err="1"/>
              <a:t>머신러닝</a:t>
            </a:r>
            <a:r>
              <a:rPr lang="ko-KR" altLang="en-US" sz="1050" dirty="0"/>
              <a:t> 책 그림</a:t>
            </a:r>
            <a:r>
              <a:rPr lang="en-US" altLang="ko-KR" sz="1050" dirty="0"/>
              <a:t>4.2</a:t>
            </a:r>
            <a:r>
              <a:rPr lang="ko-KR" altLang="en-US" sz="1050" dirty="0"/>
              <a:t>에 나오는 알고리즘 설명에 따르면</a:t>
            </a:r>
            <a:r>
              <a:rPr lang="en-US" altLang="ko-KR" sz="1050" dirty="0"/>
              <a:t>, </a:t>
            </a:r>
            <a:r>
              <a:rPr lang="ko-KR" altLang="en-US" sz="1050" dirty="0"/>
              <a:t>노드를 생성하는 </a:t>
            </a:r>
            <a:r>
              <a:rPr lang="en-US" altLang="ko-KR" sz="1050" dirty="0"/>
              <a:t>3</a:t>
            </a:r>
            <a:r>
              <a:rPr lang="ko-KR" altLang="en-US" sz="1050" dirty="0"/>
              <a:t>가지 상황은 다음과 </a:t>
            </a:r>
            <a:r>
              <a:rPr lang="ko-KR" altLang="en-US" sz="1050" dirty="0" smtClean="0"/>
              <a:t>같다</a:t>
            </a:r>
            <a:r>
              <a:rPr lang="en-US" altLang="ko-KR" sz="1050" dirty="0" smtClean="0"/>
              <a:t>.</a:t>
            </a:r>
          </a:p>
          <a:p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36036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4.1  </a:t>
            </a:r>
            <a:r>
              <a:rPr lang="ko-KR" altLang="en-US" sz="2000" dirty="0" smtClean="0"/>
              <a:t>충돌되는 데이터</a:t>
            </a:r>
            <a:r>
              <a:rPr lang="en-US" altLang="ko-KR" sz="1050" dirty="0" smtClean="0"/>
              <a:t>Conflicting data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즉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특성 벡터가 완전히 같지만 레이블은 다른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를 포함하지 않는 훈련 세트에 대해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훈련 세트와 일치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훈련 오차가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인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하는 의사결정 트리가 반드시 존재한다는 사실을 증명하라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03312" y="2052918"/>
            <a:ext cx="4491153" cy="4195481"/>
          </a:xfrm>
        </p:spPr>
        <p:txBody>
          <a:bodyPr>
            <a:normAutofit/>
          </a:bodyPr>
          <a:lstStyle/>
          <a:p>
            <a:r>
              <a:rPr lang="ko-KR" altLang="en-US" sz="1000" dirty="0" smtClean="0"/>
              <a:t>단단한 </a:t>
            </a:r>
            <a:r>
              <a:rPr lang="ko-KR" altLang="en-US" sz="1000" dirty="0" err="1"/>
              <a:t>머신러닝</a:t>
            </a:r>
            <a:r>
              <a:rPr lang="ko-KR" altLang="en-US" sz="1000" dirty="0"/>
              <a:t> 책 그림</a:t>
            </a:r>
            <a:r>
              <a:rPr lang="en-US" altLang="ko-KR" sz="1000" dirty="0"/>
              <a:t>4.2</a:t>
            </a:r>
            <a:r>
              <a:rPr lang="ko-KR" altLang="en-US" sz="1000" dirty="0"/>
              <a:t>에 나오는 알고리즘 설명에 따르면</a:t>
            </a:r>
            <a:r>
              <a:rPr lang="en-US" altLang="ko-KR" sz="1000" dirty="0"/>
              <a:t>, </a:t>
            </a:r>
            <a:r>
              <a:rPr lang="ko-KR" altLang="en-US" sz="1000" dirty="0" smtClean="0"/>
              <a:t>노드를 </a:t>
            </a:r>
            <a:r>
              <a:rPr lang="ko-KR" altLang="en-US" sz="1000" dirty="0"/>
              <a:t>생성하는 </a:t>
            </a:r>
            <a:r>
              <a:rPr lang="en-US" altLang="ko-KR" sz="1000" dirty="0"/>
              <a:t>3</a:t>
            </a:r>
            <a:r>
              <a:rPr lang="ko-KR" altLang="en-US" sz="1000" dirty="0"/>
              <a:t>가지 상황은 다음과 </a:t>
            </a:r>
            <a:r>
              <a:rPr lang="ko-KR" altLang="en-US" sz="1000" dirty="0" smtClean="0"/>
              <a:t>같다</a:t>
            </a:r>
            <a:r>
              <a:rPr lang="en-US" altLang="ko-KR" sz="1000" dirty="0" smtClean="0"/>
              <a:t>.</a:t>
            </a:r>
          </a:p>
          <a:p>
            <a:endParaRPr lang="en-US" altLang="ko-KR" sz="1050" dirty="0"/>
          </a:p>
          <a:p>
            <a:r>
              <a:rPr lang="en-US" altLang="ko-KR" sz="1000" dirty="0"/>
              <a:t>1,2,3 </a:t>
            </a:r>
            <a:r>
              <a:rPr lang="ko-KR" altLang="en-US" sz="1000" dirty="0"/>
              <a:t>총 </a:t>
            </a:r>
            <a:r>
              <a:rPr lang="en-US" altLang="ko-KR" sz="1000" dirty="0"/>
              <a:t>3</a:t>
            </a:r>
            <a:r>
              <a:rPr lang="ko-KR" altLang="en-US" sz="1000" dirty="0"/>
              <a:t>가지 상황으로 정리가 가능한데</a:t>
            </a:r>
            <a:r>
              <a:rPr lang="en-US" altLang="ko-KR" sz="1000" dirty="0"/>
              <a:t>, </a:t>
            </a:r>
            <a:r>
              <a:rPr lang="ko-KR" altLang="en-US" sz="1000" dirty="0" smtClean="0"/>
              <a:t>이 </a:t>
            </a:r>
            <a:r>
              <a:rPr lang="ko-KR" altLang="en-US" sz="1000" dirty="0"/>
              <a:t>문제의 목적은 훈련 </a:t>
            </a:r>
            <a:r>
              <a:rPr lang="ko-KR" altLang="en-US" sz="1000" dirty="0" err="1"/>
              <a:t>데이터셋과</a:t>
            </a:r>
            <a:r>
              <a:rPr lang="ko-KR" altLang="en-US" sz="1000" dirty="0"/>
              <a:t> 일치하는 의사결정 트리를 찾는 것이기 때문에 </a:t>
            </a:r>
            <a:r>
              <a:rPr lang="en-US" altLang="ko-KR" sz="1000" dirty="0"/>
              <a:t>3</a:t>
            </a:r>
            <a:r>
              <a:rPr lang="ko-KR" altLang="en-US" sz="1000" dirty="0"/>
              <a:t>번째 포인트는 </a:t>
            </a:r>
            <a:r>
              <a:rPr lang="ko-KR" altLang="en-US" sz="1000" dirty="0" smtClean="0"/>
              <a:t>고려하지 않아도 </a:t>
            </a:r>
            <a:r>
              <a:rPr lang="ko-KR" altLang="en-US" sz="1000" dirty="0"/>
              <a:t>된다</a:t>
            </a:r>
            <a:r>
              <a:rPr lang="en-US" altLang="ko-KR" sz="1000" dirty="0"/>
              <a:t>.  1,2,</a:t>
            </a:r>
            <a:r>
              <a:rPr lang="ko-KR" altLang="en-US" sz="1000" dirty="0"/>
              <a:t>번 상황만 고려하면 의사결정 </a:t>
            </a:r>
            <a:r>
              <a:rPr lang="ko-KR" altLang="en-US" sz="1000" dirty="0" smtClean="0"/>
              <a:t>트리에서 </a:t>
            </a:r>
            <a:r>
              <a:rPr lang="ko-KR" altLang="en-US" sz="1000" dirty="0"/>
              <a:t>가지가 잎 노드 생성을 멈출 때는 샘플이 모두 같은 클래스에 속하거나 모든 특성</a:t>
            </a:r>
            <a:r>
              <a:rPr lang="en-US" altLang="ko-KR" sz="1000" dirty="0"/>
              <a:t>(feature)</a:t>
            </a:r>
            <a:r>
              <a:rPr lang="ko-KR" altLang="en-US" sz="1000" dirty="0"/>
              <a:t>을 다 사용했을 때이다</a:t>
            </a:r>
            <a:r>
              <a:rPr lang="en-US" altLang="ko-KR" sz="1000" dirty="0"/>
              <a:t>. </a:t>
            </a:r>
            <a:r>
              <a:rPr lang="ko-KR" altLang="en-US" sz="1000" dirty="0"/>
              <a:t>그렇다면 </a:t>
            </a:r>
            <a:r>
              <a:rPr lang="ko-KR" altLang="en-US" sz="1000" dirty="0" err="1"/>
              <a:t>잎노드</a:t>
            </a:r>
            <a:r>
              <a:rPr lang="ko-KR" altLang="en-US" sz="1000" dirty="0"/>
              <a:t> 레이블과 실제 </a:t>
            </a:r>
            <a:r>
              <a:rPr lang="ko-KR" altLang="en-US" sz="1000" dirty="0" err="1"/>
              <a:t>훈련셋이</a:t>
            </a:r>
            <a:r>
              <a:rPr lang="ko-KR" altLang="en-US" sz="1000" dirty="0"/>
              <a:t> 다를 경우는 특성을 모두 다 사용한 상황일 것이다</a:t>
            </a:r>
            <a:r>
              <a:rPr lang="en-US" altLang="ko-KR" sz="1000" dirty="0"/>
              <a:t>. </a:t>
            </a:r>
            <a:r>
              <a:rPr lang="ko-KR" altLang="en-US" sz="1000" dirty="0"/>
              <a:t>하지만 </a:t>
            </a:r>
            <a:r>
              <a:rPr lang="ko-KR" altLang="en-US" sz="1000" dirty="0" err="1"/>
              <a:t>훈련셋에</a:t>
            </a:r>
            <a:r>
              <a:rPr lang="ko-KR" altLang="en-US" sz="1000" dirty="0"/>
              <a:t> 충돌 데이터가 없다고 했기 때문에 각 </a:t>
            </a:r>
            <a:r>
              <a:rPr lang="ko-KR" altLang="en-US" sz="1000" dirty="0" err="1"/>
              <a:t>노드상에</a:t>
            </a:r>
            <a:r>
              <a:rPr lang="ko-KR" altLang="en-US" sz="1000" dirty="0"/>
              <a:t> 훈련 오차는 모두 </a:t>
            </a:r>
            <a:r>
              <a:rPr lang="en-US" altLang="ko-KR" sz="1000" dirty="0"/>
              <a:t>0</a:t>
            </a:r>
            <a:r>
              <a:rPr lang="ko-KR" altLang="en-US" sz="1000" dirty="0"/>
              <a:t>이 된다</a:t>
            </a:r>
            <a:r>
              <a:rPr lang="en-US" altLang="ko-KR" sz="1000" dirty="0"/>
              <a:t>.</a:t>
            </a:r>
          </a:p>
          <a:p>
            <a:endParaRPr lang="en-US" altLang="ko-KR" sz="1050" dirty="0" smtClean="0"/>
          </a:p>
          <a:p>
            <a:endParaRPr lang="ko-KR" altLang="en-US" sz="7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198" y="1370916"/>
            <a:ext cx="4452961" cy="511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0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4.2  ‘</a:t>
            </a:r>
            <a:r>
              <a:rPr lang="ko-KR" altLang="en-US" sz="2000" dirty="0" smtClean="0"/>
              <a:t>최소 훈련 오차</a:t>
            </a:r>
            <a:r>
              <a:rPr lang="en-US" altLang="ko-KR" sz="2000" dirty="0" smtClean="0"/>
              <a:t>’</a:t>
            </a:r>
            <a:r>
              <a:rPr lang="ko-KR" altLang="en-US" sz="2000" dirty="0" smtClean="0"/>
              <a:t>를 사용하여 의사결정 트리 분할의 기준으로 삼을 때 빠질 수 있는 함정에 대해 분석하라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000" dirty="0"/>
              <a:t>만약 최소훈련오차를 의사결정 트리 분할의 기준으로 사용한다면 훈련 데이터와 실제 데이터 사이에 </a:t>
            </a:r>
            <a:r>
              <a:rPr lang="en-US" altLang="ko-KR" sz="1000" dirty="0"/>
              <a:t>(</a:t>
            </a:r>
            <a:r>
              <a:rPr lang="ko-KR" altLang="en-US" sz="1000" dirty="0"/>
              <a:t>거의 대부분의 상황에서</a:t>
            </a:r>
            <a:r>
              <a:rPr lang="en-US" altLang="ko-KR" sz="1000" dirty="0"/>
              <a:t>)</a:t>
            </a:r>
            <a:r>
              <a:rPr lang="ko-KR" altLang="en-US" sz="1000" dirty="0"/>
              <a:t>일정한 편차</a:t>
            </a:r>
            <a:r>
              <a:rPr lang="en-US" altLang="ko-KR" sz="1000" dirty="0"/>
              <a:t>(bias)</a:t>
            </a:r>
            <a:r>
              <a:rPr lang="ko-KR" altLang="en-US" sz="1000" dirty="0"/>
              <a:t>가 존재할 것이기 때문에</a:t>
            </a:r>
            <a:r>
              <a:rPr lang="en-US" altLang="ko-KR" sz="1000" dirty="0"/>
              <a:t>, </a:t>
            </a:r>
            <a:r>
              <a:rPr lang="ko-KR" altLang="en-US" sz="1000" dirty="0"/>
              <a:t>이렇게 얻어진 의사결정 트리는 </a:t>
            </a:r>
            <a:r>
              <a:rPr lang="ko-KR" altLang="en-US" sz="1000" dirty="0" err="1"/>
              <a:t>과적합</a:t>
            </a:r>
            <a:r>
              <a:rPr lang="ko-KR" altLang="en-US" sz="1000" dirty="0"/>
              <a:t> 상황을 일으켜 테스트 데이터에 대한 일반화 성능이 하락하게 </a:t>
            </a:r>
            <a:r>
              <a:rPr lang="ko-KR" altLang="en-US" sz="1000" dirty="0" err="1"/>
              <a:t>될것이다</a:t>
            </a:r>
            <a:r>
              <a:rPr lang="en-US" altLang="ko-KR" sz="1000" dirty="0"/>
              <a:t>. </a:t>
            </a:r>
            <a:endParaRPr lang="en-US" altLang="ko-KR" sz="1000" dirty="0" smtClean="0"/>
          </a:p>
          <a:p>
            <a:pPr marL="0" indent="0">
              <a:buNone/>
            </a:pPr>
            <a:endParaRPr lang="en-US" altLang="ko-KR" sz="1000" dirty="0"/>
          </a:p>
          <a:p>
            <a:r>
              <a:rPr lang="ko-KR" altLang="en-US" sz="1000" dirty="0"/>
              <a:t>이 문제에 대해 아직 명확한 답을 찾진 못했습니다</a:t>
            </a:r>
            <a:r>
              <a:rPr lang="en-US" altLang="ko-KR" sz="1000" dirty="0"/>
              <a:t>. '</a:t>
            </a:r>
            <a:r>
              <a:rPr lang="ko-KR" altLang="en-US" sz="1000" dirty="0" err="1"/>
              <a:t>과적합</a:t>
            </a:r>
            <a:r>
              <a:rPr lang="en-US" altLang="ko-KR" sz="1000" dirty="0"/>
              <a:t>'</a:t>
            </a:r>
            <a:r>
              <a:rPr lang="ko-KR" altLang="en-US" sz="1000" dirty="0"/>
              <a:t>때문이라는 의견이 대부분이긴 하지만</a:t>
            </a:r>
            <a:r>
              <a:rPr lang="en-US" altLang="ko-KR" sz="1000" dirty="0"/>
              <a:t>, </a:t>
            </a:r>
            <a:r>
              <a:rPr lang="ko-KR" altLang="en-US" sz="1000" dirty="0"/>
              <a:t>이에 대한 구체적인 증명은 찾지 못해서요</a:t>
            </a:r>
            <a:r>
              <a:rPr lang="en-US" altLang="ko-KR" sz="1000" dirty="0"/>
              <a:t>. </a:t>
            </a:r>
            <a:r>
              <a:rPr lang="ko-KR" altLang="en-US" sz="1000" dirty="0"/>
              <a:t>개인적으로는 의사결정 트리는 </a:t>
            </a:r>
            <a:r>
              <a:rPr lang="en-US" altLang="ko-KR" sz="1000" dirty="0"/>
              <a:t>information gain</a:t>
            </a:r>
            <a:r>
              <a:rPr lang="ko-KR" altLang="en-US" sz="1000" dirty="0"/>
              <a:t>을 사용하던 </a:t>
            </a:r>
            <a:r>
              <a:rPr lang="ko-KR" altLang="en-US" sz="1000" dirty="0" err="1"/>
              <a:t>지니인덱스를</a:t>
            </a:r>
            <a:r>
              <a:rPr lang="ko-KR" altLang="en-US" sz="1000" dirty="0"/>
              <a:t> 사용하던 </a:t>
            </a:r>
            <a:r>
              <a:rPr lang="ko-KR" altLang="en-US" sz="1000" dirty="0" err="1"/>
              <a:t>과적합</a:t>
            </a:r>
            <a:r>
              <a:rPr lang="ko-KR" altLang="en-US" sz="1000" dirty="0"/>
              <a:t> 되기 쉬운 것으로 </a:t>
            </a:r>
            <a:r>
              <a:rPr lang="ko-KR" altLang="en-US" sz="1000" dirty="0" err="1"/>
              <a:t>생각되서요</a:t>
            </a:r>
            <a:r>
              <a:rPr lang="en-US" altLang="ko-KR" sz="1000" dirty="0"/>
              <a:t>. </a:t>
            </a:r>
            <a:r>
              <a:rPr lang="ko-KR" altLang="en-US" sz="1000" dirty="0" smtClean="0"/>
              <a:t>혹시 </a:t>
            </a:r>
            <a:r>
              <a:rPr lang="ko-KR" altLang="en-US" sz="1000" dirty="0"/>
              <a:t>해당 부분에 대해 좋은 해답을 가지고 계시다면 댓글로 달아주세요</a:t>
            </a:r>
            <a:r>
              <a:rPr lang="en-US" altLang="ko-KR" sz="1000" dirty="0"/>
              <a:t>~ </a:t>
            </a:r>
            <a:r>
              <a:rPr lang="ko-KR" altLang="en-US" sz="1000" dirty="0"/>
              <a:t>다른 분들과 함께 공유했으면 좋겠습니다</a:t>
            </a:r>
            <a:r>
              <a:rPr lang="en-US" altLang="ko-KR" sz="1000" dirty="0"/>
              <a:t>:)</a:t>
            </a:r>
          </a:p>
        </p:txBody>
      </p:sp>
    </p:spTree>
    <p:extLst>
      <p:ext uri="{BB962C8B-B14F-4D97-AF65-F5344CB8AC3E}">
        <p14:creationId xmlns:p14="http://schemas.microsoft.com/office/powerpoint/2010/main" val="376673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4.3 </a:t>
            </a:r>
            <a:r>
              <a:rPr lang="ko-KR" altLang="en-US" sz="2000" dirty="0" smtClean="0"/>
              <a:t>정보 엔트로피에 기반하여 분할 선택을 진행하는 의사결정 트리 알고리즘에 대한 코드를 작성하고 표 </a:t>
            </a:r>
            <a:r>
              <a:rPr lang="en-US" altLang="ko-KR" sz="2000" dirty="0" smtClean="0"/>
              <a:t>4.3</a:t>
            </a:r>
            <a:r>
              <a:rPr lang="ko-KR" altLang="en-US" sz="2000" dirty="0" smtClean="0"/>
              <a:t>의 데이터를 사용해 의사결정 트리를 생성하라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13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4.4  </a:t>
            </a:r>
            <a:r>
              <a:rPr lang="ko-KR" altLang="en-US" sz="2000" dirty="0" err="1" smtClean="0"/>
              <a:t>지니계수에</a:t>
            </a:r>
            <a:r>
              <a:rPr lang="ko-KR" altLang="en-US" sz="2000" dirty="0" smtClean="0"/>
              <a:t> 기반하여 분할 선택을 진행하는 의사결정 트리 알고리즘에 대한 코드를 작성하고 표 </a:t>
            </a:r>
            <a:r>
              <a:rPr lang="en-US" altLang="ko-KR" sz="2000" dirty="0" smtClean="0"/>
              <a:t>4.2</a:t>
            </a:r>
            <a:r>
              <a:rPr lang="ko-KR" altLang="en-US" sz="2000" dirty="0" smtClean="0"/>
              <a:t>의 데이터를 사용해 사전 가지치기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사후 가지치기 의사결정 트리를 만들고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가지치기를 하지 않은 의사결정 트리와 비교해 보아라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4.5  </a:t>
            </a:r>
            <a:r>
              <a:rPr lang="ko-KR" altLang="en-US" sz="2000" dirty="0" err="1" smtClean="0"/>
              <a:t>로지스틱</a:t>
            </a:r>
            <a:r>
              <a:rPr lang="ko-KR" altLang="en-US" sz="2000" dirty="0" smtClean="0"/>
              <a:t> 회귀에 기반하여 분할 선택을 진행하는 의사결정 트리 알고리즘에 대한 코드를 작성하고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표 </a:t>
            </a:r>
            <a:r>
              <a:rPr lang="en-US" altLang="ko-KR" sz="2000" dirty="0" smtClean="0"/>
              <a:t>4.3</a:t>
            </a:r>
            <a:r>
              <a:rPr lang="ko-KR" altLang="en-US" sz="2000" dirty="0" smtClean="0"/>
              <a:t>의 데이터를 사용해 의사결정 트리를 생성하라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24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4.6  UCI </a:t>
            </a:r>
            <a:r>
              <a:rPr lang="ko-KR" altLang="en-US" sz="2000" dirty="0" smtClean="0"/>
              <a:t>데이터 세트에서 </a:t>
            </a:r>
            <a:r>
              <a:rPr lang="en-US" altLang="ko-KR" sz="2000" dirty="0" smtClean="0"/>
              <a:t>4</a:t>
            </a:r>
            <a:r>
              <a:rPr lang="ko-KR" altLang="en-US" sz="2000" dirty="0" smtClean="0"/>
              <a:t>개의 데이터 세트를 선택하여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위에서 언급한 세 가지 알고리즘이 생성한 가지치기를 하지 않은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사전 가지치기를 한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사후 가지치기를 한 의사결정 트리들에 대해 비교를 진행하고 통계적 유의미성을 검증하라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grpSp>
        <p:nvGrpSpPr>
          <p:cNvPr id="8" name="그룹 7"/>
          <p:cNvGrpSpPr/>
          <p:nvPr/>
        </p:nvGrpSpPr>
        <p:grpSpPr>
          <a:xfrm>
            <a:off x="2136369" y="1527380"/>
            <a:ext cx="7739150" cy="5197625"/>
            <a:chOff x="1130529" y="1535693"/>
            <a:chExt cx="7739150" cy="519762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529" y="1536496"/>
              <a:ext cx="3654665" cy="2603711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5194" y="1535693"/>
              <a:ext cx="4084485" cy="260451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0531" y="4140207"/>
              <a:ext cx="3654665" cy="2593111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9900" y="4140207"/>
              <a:ext cx="4139778" cy="25931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051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dirty="0" smtClean="0"/>
              <a:t>4.7  </a:t>
            </a:r>
            <a:r>
              <a:rPr lang="ko-KR" altLang="en-US" sz="1800" dirty="0" smtClean="0"/>
              <a:t>그림 </a:t>
            </a:r>
            <a:r>
              <a:rPr lang="en-US" altLang="ko-KR" sz="1800" dirty="0" smtClean="0"/>
              <a:t>4.2</a:t>
            </a:r>
            <a:r>
              <a:rPr lang="ko-KR" altLang="en-US" sz="1800" dirty="0" smtClean="0"/>
              <a:t>는 재귀 알고리즘이다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만약 매우 큰 데이터를 만나게 된다면 의사결정 트리의 층수가 매우 깊어져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재귀 방법을 사용하면 스택이 넘치기 쉽다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선입선처리</a:t>
            </a:r>
            <a:r>
              <a:rPr lang="en-US" altLang="ko-KR" sz="1800" dirty="0" smtClean="0"/>
              <a:t>(First in First Out, FIFO)</a:t>
            </a:r>
            <a:r>
              <a:rPr lang="ko-KR" altLang="en-US" sz="1800" dirty="0" smtClean="0"/>
              <a:t>데이터 구조를 사용하고 </a:t>
            </a:r>
            <a:r>
              <a:rPr lang="ko-KR" altLang="en-US" sz="1800" dirty="0" err="1" smtClean="0"/>
              <a:t>파라미터</a:t>
            </a:r>
            <a:r>
              <a:rPr lang="ko-KR" altLang="en-US" sz="1800" dirty="0" smtClean="0"/>
              <a:t> </a:t>
            </a:r>
            <a:r>
              <a:rPr lang="en-US" altLang="ko-KR" sz="1800" dirty="0" err="1" smtClean="0"/>
              <a:t>MaxDepth</a:t>
            </a:r>
            <a:r>
              <a:rPr lang="ko-KR" altLang="en-US" sz="1800" dirty="0" smtClean="0"/>
              <a:t>로 트리의 최대 깊이를 제어할 수 있게 만들면서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그림 </a:t>
            </a:r>
            <a:r>
              <a:rPr lang="en-US" altLang="ko-KR" sz="1800" dirty="0" smtClean="0"/>
              <a:t>4.2</a:t>
            </a:r>
            <a:r>
              <a:rPr lang="ko-KR" altLang="en-US" sz="1800" dirty="0" smtClean="0"/>
              <a:t>와 같은 값을 가지지만 재귀적 의사결정 트리 생성 알고리즘을 사용하지 않는 알고리즘을 작성해 보아라</a:t>
            </a:r>
            <a:endParaRPr lang="ko-KR" altLang="en-US" sz="1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04293" y="2052918"/>
            <a:ext cx="8946541" cy="4195481"/>
          </a:xfrm>
        </p:spPr>
        <p:txBody>
          <a:bodyPr/>
          <a:lstStyle/>
          <a:p>
            <a:r>
              <a:rPr lang="ko-KR" altLang="en-US" dirty="0" smtClean="0"/>
              <a:t>답안 </a:t>
            </a:r>
            <a:r>
              <a:rPr lang="en-US" altLang="ko-KR" dirty="0" smtClean="0"/>
              <a:t>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007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4.8  </a:t>
            </a:r>
            <a:r>
              <a:rPr lang="ko-KR" altLang="en-US" sz="2000" dirty="0" smtClean="0"/>
              <a:t>깊이 </a:t>
            </a:r>
            <a:r>
              <a:rPr lang="ko-KR" altLang="en-US" sz="2000" dirty="0" err="1" smtClean="0"/>
              <a:t>우선탐색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Dpeth</a:t>
            </a:r>
            <a:r>
              <a:rPr lang="en-US" altLang="ko-KR" sz="2000" dirty="0" smtClean="0"/>
              <a:t>-First Search, DFS) </a:t>
            </a:r>
            <a:r>
              <a:rPr lang="ko-KR" altLang="en-US" sz="2000" dirty="0" smtClean="0"/>
              <a:t>과정을 너비 우선 탐색</a:t>
            </a:r>
            <a:r>
              <a:rPr lang="en-US" altLang="ko-KR" sz="2000" dirty="0" smtClean="0"/>
              <a:t>(Breath-First Search, BFS)</a:t>
            </a:r>
            <a:r>
              <a:rPr lang="ko-KR" altLang="en-US" sz="2000" dirty="0" smtClean="0"/>
              <a:t>로 수정하고 </a:t>
            </a:r>
            <a:r>
              <a:rPr lang="ko-KR" altLang="en-US" sz="2000" dirty="0" err="1" smtClean="0"/>
              <a:t>파라미터</a:t>
            </a:r>
            <a:r>
              <a:rPr lang="ko-KR" altLang="en-US" sz="2000" dirty="0" smtClean="0"/>
              <a:t> </a:t>
            </a:r>
            <a:r>
              <a:rPr lang="en-US" altLang="ko-KR" sz="2000" dirty="0" err="1" smtClean="0"/>
              <a:t>MaxNode</a:t>
            </a:r>
            <a:r>
              <a:rPr lang="ko-KR" altLang="en-US" sz="2000" dirty="0" smtClean="0"/>
              <a:t>로 트리의 최대 노드 수를 제어하는 의사결정 트리 알고리즘을 문제 </a:t>
            </a:r>
            <a:r>
              <a:rPr lang="en-US" altLang="ko-KR" sz="2000" dirty="0" smtClean="0"/>
              <a:t>4.7</a:t>
            </a:r>
            <a:r>
              <a:rPr lang="ko-KR" altLang="en-US" sz="2000" dirty="0" smtClean="0"/>
              <a:t>을 기반으로 수정하여라 문제 </a:t>
            </a:r>
            <a:r>
              <a:rPr lang="en-US" altLang="ko-KR" sz="2000" dirty="0" smtClean="0"/>
              <a:t>4.7</a:t>
            </a:r>
            <a:r>
              <a:rPr lang="ko-KR" altLang="en-US" sz="2000" dirty="0" smtClean="0"/>
              <a:t>의 알고리즘과 비교했을 때 어떤 방법으로 구현한 의사결정트리가 메모리 관리에 쉬운지 분석해 보아라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답안 </a:t>
            </a:r>
            <a:r>
              <a:rPr lang="en-US" altLang="ko-KR" dirty="0"/>
              <a:t>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604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4.9  4.4.2</a:t>
            </a:r>
            <a:r>
              <a:rPr lang="ko-KR" altLang="en-US" sz="2000" dirty="0" smtClean="0"/>
              <a:t>절에서 </a:t>
            </a:r>
            <a:r>
              <a:rPr lang="ko-KR" altLang="en-US" sz="2000" dirty="0" err="1" smtClean="0"/>
              <a:t>결측값에</a:t>
            </a:r>
            <a:r>
              <a:rPr lang="ko-KR" altLang="en-US" sz="2000" dirty="0" smtClean="0"/>
              <a:t> 대한 처리 메커니즘을 </a:t>
            </a:r>
            <a:r>
              <a:rPr lang="ko-KR" altLang="en-US" sz="2000" dirty="0" err="1" smtClean="0"/>
              <a:t>지니계수의</a:t>
            </a:r>
            <a:r>
              <a:rPr lang="ko-KR" altLang="en-US" sz="2000" dirty="0" smtClean="0"/>
              <a:t> 계산으로 확장하라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100" y="2052918"/>
            <a:ext cx="8716963" cy="278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9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 smtClean="0"/>
              <a:t>4.10  </a:t>
            </a:r>
            <a:r>
              <a:rPr lang="ko-KR" altLang="en-US" sz="2000" dirty="0" smtClean="0"/>
              <a:t>임의의 다중 변수 의사결정 트리를 만들고 수박 데이터 세트 </a:t>
            </a:r>
            <a:r>
              <a:rPr lang="en-US" altLang="ko-KR" sz="2000" dirty="0" smtClean="0"/>
              <a:t>3.0</a:t>
            </a:r>
            <a:r>
              <a:rPr lang="ko-KR" altLang="en-US" sz="2000" dirty="0" smtClean="0"/>
              <a:t>에서 어떤 결과가 나오는지 확인해보아라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000" dirty="0" smtClean="0"/>
              <a:t>4.3</a:t>
            </a:r>
            <a:r>
              <a:rPr lang="ko-KR" altLang="en-US" sz="1000" dirty="0" smtClean="0"/>
              <a:t>과 </a:t>
            </a:r>
            <a:r>
              <a:rPr lang="en-US" altLang="ko-KR" sz="1000" dirty="0" smtClean="0"/>
              <a:t>4.4 </a:t>
            </a:r>
            <a:r>
              <a:rPr lang="ko-KR" altLang="en-US" sz="1000" dirty="0" smtClean="0"/>
              <a:t>문제에서 다뤘던 내용이므로 생략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2709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120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이온">
  <a:themeElements>
    <a:clrScheme name="이온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이온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149</TotalTime>
  <Words>512</Words>
  <Application>Microsoft Office PowerPoint</Application>
  <PresentationFormat>와이드스크린</PresentationFormat>
  <Paragraphs>24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Century Gothic</vt:lpstr>
      <vt:lpstr>Wingdings 2</vt:lpstr>
      <vt:lpstr>Wingdings 3</vt:lpstr>
      <vt:lpstr>HDOfficeLightV0</vt:lpstr>
      <vt:lpstr>이온</vt:lpstr>
      <vt:lpstr>CHAPTER 04 의사결정나무</vt:lpstr>
      <vt:lpstr>4.1  충돌되는 데이터Conflicting data(즉, 특성 벡터가 완전히 같지만 레이블은 다른)를 포함하지 않는 훈련 세트에 대해, 훈련 세트와 일치(훈련 오차가 0인)하는 의사결정 트리가 반드시 존재한다는 사실을 증명하라</vt:lpstr>
      <vt:lpstr>4.1  충돌되는 데이터Conflicting data(즉, 특성 벡터가 완전히 같지만 레이블은 다른)를 포함하지 않는 훈련 세트에 대해, 훈련 세트와 일치(훈련 오차가 0인)하는 의사결정 트리가 반드시 존재한다는 사실을 증명하라</vt:lpstr>
      <vt:lpstr>4.2  ‘최소 훈련 오차’를 사용하여 의사결정 트리 분할의 기준으로 삼을 때 빠질 수 있는 함정에 대해 분석하라</vt:lpstr>
      <vt:lpstr>4.3 정보 엔트로피에 기반하여 분할 선택을 진행하는 의사결정 트리 알고리즘에 대한 코드를 작성하고 표 4.3의 데이터를 사용해 의사결정 트리를 생성하라</vt:lpstr>
      <vt:lpstr>4.4  지니계수에 기반하여 분할 선택을 진행하는 의사결정 트리 알고리즘에 대한 코드를 작성하고 표 4.2의 데이터를 사용해 사전 가지치기, 사후 가지치기 의사결정 트리를 만들고, 가지치기를 하지 않은 의사결정 트리와 비교해 보아라</vt:lpstr>
      <vt:lpstr>4.5  로지스틱 회귀에 기반하여 분할 선택을 진행하는 의사결정 트리 알고리즘에 대한 코드를 작성하고, 표 4.3의 데이터를 사용해 의사결정 트리를 생성하라.</vt:lpstr>
      <vt:lpstr>4.6  UCI 데이터 세트에서 4개의 데이터 세트를 선택하여, 위에서 언급한 세 가지 알고리즘이 생성한 가지치기를 하지 않은, 사전 가지치기를 한, 사후 가지치기를 한 의사결정 트리들에 대해 비교를 진행하고 통계적 유의미성을 검증하라.</vt:lpstr>
      <vt:lpstr>4.7  그림 4.2는 재귀 알고리즘이다. 만약 매우 큰 데이터를 만나게 된다면 의사결정 트리의 층수가 매우 깊어져, 재귀 방법을 사용하면 스택이 넘치기 쉽다. 선입선처리(First in First Out, FIFO)데이터 구조를 사용하고 파라미터 MaxDepth로 트리의 최대 깊이를 제어할 수 있게 만들면서, 그림 4.2와 같은 값을 가지지만 재귀적 의사결정 트리 생성 알고리즘을 사용하지 않는 알고리즘을 작성해 보아라</vt:lpstr>
      <vt:lpstr>4.8  깊이 우선탐색(Dpeth-First Search, DFS) 과정을 너비 우선 탐색(Breath-First Search, BFS)로 수정하고 파라미터 MaxNode로 트리의 최대 노드 수를 제어하는 의사결정 트리 알고리즘을 문제 4.7을 기반으로 수정하여라 문제 4.7의 알고리즘과 비교했을 때 어떤 방법으로 구현한 의사결정트리가 메모리 관리에 쉬운지 분석해 보아라.</vt:lpstr>
      <vt:lpstr>4.9  4.4.2절에서 결측값에 대한 처리 메커니즘을 지니계수의 계산으로 확장하라.</vt:lpstr>
      <vt:lpstr>4.10  임의의 다중 변수 의사결정 트리를 만들고 수박 데이터 세트 3.0에서 어떤 결과가 나오는지 확인해보아라.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04 의사결정나무</dc:title>
  <dc:creator>Kimminseop</dc:creator>
  <cp:lastModifiedBy>Kimminseop</cp:lastModifiedBy>
  <cp:revision>5</cp:revision>
  <dcterms:created xsi:type="dcterms:W3CDTF">2022-03-07T02:53:27Z</dcterms:created>
  <dcterms:modified xsi:type="dcterms:W3CDTF">2022-03-07T05:22:48Z</dcterms:modified>
</cp:coreProperties>
</file>